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nsh Sahu" userId="cbc7d017b50c04b6" providerId="LiveId" clId="{A394BA55-5B65-4531-9FF1-B82221279EAF}"/>
    <pc:docChg chg="undo redo custSel modSld sldOrd">
      <pc:chgData name="Shreyansh Sahu" userId="cbc7d017b50c04b6" providerId="LiveId" clId="{A394BA55-5B65-4531-9FF1-B82221279EAF}" dt="2026-10-15T18:04:40.680" v="323" actId="1035"/>
      <pc:docMkLst>
        <pc:docMk/>
      </pc:docMkLst>
      <pc:sldChg chg="addSp modSp mod">
        <pc:chgData name="Shreyansh Sahu" userId="cbc7d017b50c04b6" providerId="LiveId" clId="{A394BA55-5B65-4531-9FF1-B82221279EAF}" dt="2026-10-15T18:03:31.845" v="318" actId="1076"/>
        <pc:sldMkLst>
          <pc:docMk/>
          <pc:sldMk cId="0" sldId="256"/>
        </pc:sldMkLst>
        <pc:spChg chg="mod">
          <ac:chgData name="Shreyansh Sahu" userId="cbc7d017b50c04b6" providerId="LiveId" clId="{A394BA55-5B65-4531-9FF1-B82221279EAF}" dt="2026-10-15T14:03:18.732" v="156" actId="255"/>
          <ac:spMkLst>
            <pc:docMk/>
            <pc:sldMk cId="0" sldId="256"/>
            <ac:spMk id="7" creationId="{5F95314B-C061-8AC9-E345-967266A214AE}"/>
          </ac:spMkLst>
        </pc:spChg>
        <pc:spChg chg="mod">
          <ac:chgData name="Shreyansh Sahu" userId="cbc7d017b50c04b6" providerId="LiveId" clId="{A394BA55-5B65-4531-9FF1-B82221279EAF}" dt="2026-10-14T15:17:31.893" v="0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reyansh Sahu" userId="cbc7d017b50c04b6" providerId="LiveId" clId="{A394BA55-5B65-4531-9FF1-B82221279EAF}" dt="2026-10-14T15:18:08.528" v="1"/>
          <ac:spMkLst>
            <pc:docMk/>
            <pc:sldMk cId="0" sldId="256"/>
            <ac:spMk id="9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7:36:43.835" v="4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8:03:31.845" v="318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8:03:31.845" v="318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8:03:13.083" v="313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8:03:13.083" v="313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50:28.491" v="289" actId="20577"/>
          <ac:spMkLst>
            <pc:docMk/>
            <pc:sldMk cId="0" sldId="256"/>
            <ac:spMk id="29" creationId="{209509EF-2B84-B9DF-EDE1-4AC0D0263F0A}"/>
          </ac:spMkLst>
        </pc:spChg>
      </pc:sldChg>
      <pc:sldChg chg="modSp mod ord">
        <pc:chgData name="Shreyansh Sahu" userId="cbc7d017b50c04b6" providerId="LiveId" clId="{A394BA55-5B65-4531-9FF1-B82221279EAF}" dt="2026-10-15T18:04:40.680" v="323" actId="1035"/>
        <pc:sldMkLst>
          <pc:docMk/>
          <pc:sldMk cId="0" sldId="257"/>
        </pc:sldMkLst>
        <pc:spChg chg="mod">
          <ac:chgData name="Shreyansh Sahu" userId="cbc7d017b50c04b6" providerId="LiveId" clId="{A394BA55-5B65-4531-9FF1-B82221279EAF}" dt="2026-10-15T18:04:40.680" v="323" actId="1035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6:47:37.636" v="33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3:41:24.037" v="8"/>
          <ac:spMkLst>
            <pc:docMk/>
            <pc:sldMk cId="0" sldId="257"/>
            <ac:spMk id="9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50:44.219" v="292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4:04:00.246" v="159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2:14.832" v="208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6:58:50.721" v="42"/>
          <ac:spMkLst>
            <pc:docMk/>
            <pc:sldMk cId="0" sldId="257"/>
            <ac:spMk id="16" creationId="{00000000-0000-0000-0000-000000000000}"/>
          </ac:spMkLst>
        </pc:spChg>
      </pc:sldChg>
      <pc:sldChg chg="modSp mod ord">
        <pc:chgData name="Shreyansh Sahu" userId="cbc7d017b50c04b6" providerId="LiveId" clId="{A394BA55-5B65-4531-9FF1-B82221279EAF}" dt="2026-10-15T17:50:49.597" v="293" actId="20577"/>
        <pc:sldMkLst>
          <pc:docMk/>
          <pc:sldMk cId="0" sldId="258"/>
        </pc:sldMkLst>
        <pc:spChg chg="mod">
          <ac:chgData name="Shreyansh Sahu" userId="cbc7d017b50c04b6" providerId="LiveId" clId="{A394BA55-5B65-4531-9FF1-B82221279EAF}" dt="2026-10-15T17:50:49.597" v="293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1:56.530" v="207" actId="255"/>
          <ac:spMkLst>
            <pc:docMk/>
            <pc:sldMk cId="0" sldId="258"/>
            <ac:spMk id="12" creationId="{00000000-0000-0000-0000-000000000000}"/>
          </ac:spMkLst>
        </pc:spChg>
      </pc:sldChg>
      <pc:sldChg chg="addSp modSp mod ord">
        <pc:chgData name="Shreyansh Sahu" userId="cbc7d017b50c04b6" providerId="LiveId" clId="{A394BA55-5B65-4531-9FF1-B82221279EAF}" dt="2026-10-15T17:50:37.703" v="291" actId="20577"/>
        <pc:sldMkLst>
          <pc:docMk/>
          <pc:sldMk cId="0" sldId="259"/>
        </pc:sldMkLst>
        <pc:spChg chg="mod">
          <ac:chgData name="Shreyansh Sahu" userId="cbc7d017b50c04b6" providerId="LiveId" clId="{A394BA55-5B65-4531-9FF1-B82221279EAF}" dt="2026-10-15T03:41:34.055" v="9"/>
          <ac:spMkLst>
            <pc:docMk/>
            <pc:sldMk cId="0" sldId="259"/>
            <ac:spMk id="9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50:37.703" v="291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8:32:58.465" v="59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8:24:23.878" v="56"/>
          <ac:spMkLst>
            <pc:docMk/>
            <pc:sldMk cId="0" sldId="259"/>
            <ac:spMk id="47" creationId="{9BD6F1F6-098B-B69A-2D14-CD272A83963B}"/>
          </ac:spMkLst>
        </pc:spChg>
        <pc:spChg chg="mod">
          <ac:chgData name="Shreyansh Sahu" userId="cbc7d017b50c04b6" providerId="LiveId" clId="{A394BA55-5B65-4531-9FF1-B82221279EAF}" dt="2026-10-15T08:36:22.473" v="63"/>
          <ac:spMkLst>
            <pc:docMk/>
            <pc:sldMk cId="0" sldId="259"/>
            <ac:spMk id="51" creationId="{B4D59E50-A048-666A-04D8-E2D0B6FF63D2}"/>
          </ac:spMkLst>
        </pc:spChg>
        <pc:spChg chg="mod">
          <ac:chgData name="Shreyansh Sahu" userId="cbc7d017b50c04b6" providerId="LiveId" clId="{A394BA55-5B65-4531-9FF1-B82221279EAF}" dt="2026-10-15T08:28:31.867" v="58"/>
          <ac:spMkLst>
            <pc:docMk/>
            <pc:sldMk cId="0" sldId="259"/>
            <ac:spMk id="53" creationId="{064C94D7-0D77-278B-08C8-71CAB5383E87}"/>
          </ac:spMkLst>
        </pc:spChg>
      </pc:sldChg>
      <pc:sldChg chg="modSp mod">
        <pc:chgData name="Shreyansh Sahu" userId="cbc7d017b50c04b6" providerId="LiveId" clId="{A394BA55-5B65-4531-9FF1-B82221279EAF}" dt="2026-10-15T17:41:38.121" v="206" actId="1076"/>
        <pc:sldMkLst>
          <pc:docMk/>
          <pc:sldMk cId="0" sldId="260"/>
        </pc:sldMkLst>
        <pc:spChg chg="mod">
          <ac:chgData name="Shreyansh Sahu" userId="cbc7d017b50c04b6" providerId="LiveId" clId="{A394BA55-5B65-4531-9FF1-B82221279EAF}" dt="2026-10-15T17:41:29.947" v="20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03:41:39.845" v="10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1:16.537" v="201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1:38.121" v="206" actId="1076"/>
          <ac:spMkLst>
            <pc:docMk/>
            <pc:sldMk cId="0" sldId="260"/>
            <ac:spMk id="12" creationId="{00000000-0000-0000-0000-000000000000}"/>
          </ac:spMkLst>
        </pc:spChg>
      </pc:sldChg>
      <pc:sldChg chg="addSp delSp modSp mod ord">
        <pc:chgData name="Shreyansh Sahu" userId="cbc7d017b50c04b6" providerId="LiveId" clId="{A394BA55-5B65-4531-9FF1-B82221279EAF}" dt="2026-10-15T17:49:22.597" v="287" actId="14100"/>
        <pc:sldMkLst>
          <pc:docMk/>
          <pc:sldMk cId="0" sldId="261"/>
        </pc:sldMkLst>
        <pc:spChg chg="mod">
          <ac:chgData name="Shreyansh Sahu" userId="cbc7d017b50c04b6" providerId="LiveId" clId="{A394BA55-5B65-4531-9FF1-B82221279EAF}" dt="2026-10-15T17:45:47.624" v="236" actId="1076"/>
          <ac:spMkLst>
            <pc:docMk/>
            <pc:sldMk cId="0" sldId="261"/>
            <ac:spMk id="4" creationId="{8E80EEF0-3892-78D0-D48E-56D00E2CB936}"/>
          </ac:spMkLst>
        </pc:spChg>
        <pc:spChg chg="mod">
          <ac:chgData name="Shreyansh Sahu" userId="cbc7d017b50c04b6" providerId="LiveId" clId="{A394BA55-5B65-4531-9FF1-B82221279EAF}" dt="2026-10-15T03:41:43.062" v="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6:12.913" v="239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15" creationId="{00000000-0000-0000-0000-000000000000}"/>
          </ac:spMkLst>
        </pc:spChg>
        <pc:spChg chg="add mod or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16" creationId="{6DA80729-4FA4-7719-AE94-C1078A3A5824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3:27.447" v="221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5:47.624" v="236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5:08.994" v="232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4:04.018" v="223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5:47.624" v="236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Shreyansh Sahu" userId="cbc7d017b50c04b6" providerId="LiveId" clId="{A394BA55-5B65-4531-9FF1-B82221279EAF}" dt="2026-10-15T17:45:20.884" v="234" actId="1076"/>
          <ac:spMkLst>
            <pc:docMk/>
            <pc:sldMk cId="0" sldId="261"/>
            <ac:spMk id="34" creationId="{D5E106BF-ECC2-6D4A-F184-EC4C74D34473}"/>
          </ac:spMkLst>
        </pc:spChg>
        <pc:spChg chg="mod">
          <ac:chgData name="Shreyansh Sahu" userId="cbc7d017b50c04b6" providerId="LiveId" clId="{A394BA55-5B65-4531-9FF1-B82221279EAF}" dt="2026-10-15T17:49:09.114" v="285" actId="1076"/>
          <ac:spMkLst>
            <pc:docMk/>
            <pc:sldMk cId="0" sldId="261"/>
            <ac:spMk id="36" creationId="{50C29326-F585-126E-B7D9-CBAA742A18C3}"/>
          </ac:spMkLst>
        </pc:spChg>
        <pc:spChg chg="mod">
          <ac:chgData name="Shreyansh Sahu" userId="cbc7d017b50c04b6" providerId="LiveId" clId="{A394BA55-5B65-4531-9FF1-B82221279EAF}" dt="2026-10-15T17:45:00.006" v="231" actId="1076"/>
          <ac:spMkLst>
            <pc:docMk/>
            <pc:sldMk cId="0" sldId="261"/>
            <ac:spMk id="38" creationId="{96109CAF-031F-C671-8730-23EEC219399F}"/>
          </ac:spMkLst>
        </pc:spChg>
        <pc:picChg chg="add mod">
          <ac:chgData name="Shreyansh Sahu" userId="cbc7d017b50c04b6" providerId="LiveId" clId="{A394BA55-5B65-4531-9FF1-B82221279EAF}" dt="2026-10-15T17:49:22.597" v="287" actId="14100"/>
          <ac:picMkLst>
            <pc:docMk/>
            <pc:sldMk cId="0" sldId="261"/>
            <ac:picMk id="12" creationId="{88E366C5-F923-CF00-2060-73C4B03859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98332-F2DB-4061-A1B5-35A160B06ED3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F58D9-6EDA-4507-9666-6EE986D03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3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F58D9-6EDA-4507-9666-6EE986D034A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56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F58D9-6EDA-4507-9666-6EE986D034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096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F58D9-6EDA-4507-9666-6EE986D034A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72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F58D9-6EDA-4507-9666-6EE986D034A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20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F58D9-6EDA-4507-9666-6EE986D034A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4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006840" y="320040"/>
            <a:ext cx="2788920" cy="640080"/>
          </a:xfrm>
          <a:prstGeom prst="roundRect">
            <a:avLst>
              <a:gd name="adj" fmla="val 14000"/>
            </a:avLst>
          </a:prstGeom>
          <a:solidFill>
            <a:srgbClr val="F9F1F0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98280" y="523213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 dirty="0">
                <a:solidFill>
                  <a:srgbClr val="8B1A1A"/>
                </a:solidFill>
                <a:latin typeface="Caladea"/>
              </a:rPr>
              <a:t>HACKSHIFT 2026</a:t>
            </a:r>
            <a:endParaRPr lang="en-IN" sz="1400" b="1" i="0" dirty="0">
              <a:solidFill>
                <a:srgbClr val="8B1A1A"/>
              </a:solidFill>
              <a:latin typeface="Calad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5483" y="254784"/>
            <a:ext cx="426073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>
                <a:solidFill>
                  <a:srgbClr val="8B1A1A"/>
                </a:solidFill>
                <a:latin typeface="Caladea"/>
              </a:rPr>
              <a:t>HACKSHIFT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9266"/>
            <a:ext cx="681228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1750" b="1" dirty="0">
                <a:solidFill>
                  <a:srgbClr val="1A1A1A"/>
                </a:solidFill>
                <a:latin typeface="Carlito"/>
              </a:rPr>
              <a:t>Theme  –  Building a Network, Not a Directory.</a:t>
            </a:r>
            <a:endParaRPr lang="en-US" sz="1750" i="1" dirty="0">
              <a:latin typeface="Carlito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en-IN" sz="1750" b="1" i="1" dirty="0">
              <a:solidFill>
                <a:srgbClr val="5A5A5A"/>
              </a:solidFill>
              <a:latin typeface="Carli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39" y="2004448"/>
            <a:ext cx="6812280" cy="1205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v"/>
            </a:pPr>
            <a:r>
              <a:rPr sz="1750" b="1" i="0" dirty="0">
                <a:solidFill>
                  <a:srgbClr val="1A1A1A"/>
                </a:solidFill>
                <a:latin typeface="Carlito"/>
              </a:rPr>
              <a:t>Team Name </a:t>
            </a:r>
            <a:r>
              <a:rPr lang="en-US" sz="1750" b="1" i="0" dirty="0">
                <a:solidFill>
                  <a:srgbClr val="1A1A1A"/>
                </a:solidFill>
                <a:latin typeface="Carlito"/>
              </a:rPr>
              <a:t> </a:t>
            </a:r>
            <a:r>
              <a:rPr sz="1750" b="1" i="0" dirty="0">
                <a:solidFill>
                  <a:srgbClr val="1A1A1A"/>
                </a:solidFill>
                <a:latin typeface="Carlito"/>
              </a:rPr>
              <a:t>– </a:t>
            </a:r>
            <a:r>
              <a:rPr lang="en-US" sz="1750" b="1" i="0" dirty="0">
                <a:solidFill>
                  <a:srgbClr val="1A1A1A"/>
                </a:solidFill>
                <a:latin typeface="Carlito"/>
              </a:rPr>
              <a:t> </a:t>
            </a:r>
            <a:r>
              <a:rPr sz="2000" b="1" dirty="0">
                <a:solidFill>
                  <a:srgbClr val="5A5A5A"/>
                </a:solidFill>
                <a:latin typeface="Carlito"/>
              </a:rPr>
              <a:t>ARROWS</a:t>
            </a:r>
            <a:endParaRPr lang="en-US" sz="2000" b="1" dirty="0">
              <a:solidFill>
                <a:srgbClr val="5A5A5A"/>
              </a:solidFill>
              <a:latin typeface="Carlito"/>
            </a:endParaRP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v"/>
            </a:pPr>
            <a:r>
              <a:rPr lang="en-IN" sz="1750" b="1" dirty="0">
                <a:solidFill>
                  <a:srgbClr val="1A1A1A"/>
                </a:solidFill>
                <a:latin typeface="Carlito"/>
              </a:rPr>
              <a:t>Team Member Names :</a:t>
            </a:r>
          </a:p>
          <a:p>
            <a:pPr>
              <a:spcAft>
                <a:spcPts val="1400"/>
              </a:spcAft>
            </a:pPr>
            <a:endParaRPr lang="en-IN" sz="1750" b="1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3758" y="2921630"/>
            <a:ext cx="6357161" cy="2385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750" b="0" dirty="0">
                <a:latin typeface="Carlito"/>
              </a:rPr>
              <a:t>Mridul Bharadwaj</a:t>
            </a:r>
            <a:r>
              <a:rPr lang="en-IN" sz="1750" b="0" dirty="0">
                <a:latin typeface="Carlito"/>
              </a:rPr>
              <a:t>  </a:t>
            </a:r>
            <a:r>
              <a:rPr lang="en-IN" sz="1200" b="1" i="1" dirty="0">
                <a:latin typeface="Carlito"/>
              </a:rPr>
              <a:t>(</a:t>
            </a:r>
            <a:r>
              <a:rPr lang="en-IN" sz="1200" b="1" i="1" dirty="0">
                <a:solidFill>
                  <a:srgbClr val="1A1A1A"/>
                </a:solidFill>
                <a:latin typeface="Carlito"/>
              </a:rPr>
              <a:t>Backend, Core Logic &amp; APIs</a:t>
            </a:r>
            <a:r>
              <a:rPr lang="en-IN" sz="1200" b="1" i="1" dirty="0">
                <a:latin typeface="Carlito"/>
              </a:rPr>
              <a:t>)</a:t>
            </a:r>
            <a:r>
              <a:rPr lang="en-IN" sz="1750" dirty="0">
                <a:latin typeface="Carlito"/>
              </a:rPr>
              <a:t>;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750" dirty="0">
                <a:latin typeface="Carlito"/>
              </a:rPr>
              <a:t>Advit Goel  </a:t>
            </a:r>
            <a:r>
              <a:rPr lang="en-IN" sz="1200" b="1" i="1" dirty="0"/>
              <a:t>(DB Management &amp; Frontend)</a:t>
            </a:r>
            <a:r>
              <a:rPr lang="en-IN" sz="1200" dirty="0">
                <a:latin typeface="Carlito"/>
              </a:rPr>
              <a:t>;</a:t>
            </a:r>
            <a:endParaRPr lang="en-IN" sz="1750" dirty="0">
              <a:latin typeface="Carlito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750" dirty="0">
                <a:latin typeface="Carlito"/>
              </a:rPr>
              <a:t>Vidit Krishnatre  </a:t>
            </a:r>
            <a:r>
              <a:rPr lang="en-IN" sz="1200" b="1" i="1" dirty="0"/>
              <a:t>(Backend, Core Logic &amp; APIs)</a:t>
            </a:r>
            <a:r>
              <a:rPr lang="en-IN" sz="1200" dirty="0">
                <a:latin typeface="Carlito"/>
              </a:rPr>
              <a:t>;</a:t>
            </a:r>
            <a:endParaRPr lang="en-IN" sz="1750" dirty="0">
              <a:latin typeface="Carlito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750" dirty="0">
                <a:latin typeface="Carlito"/>
              </a:rPr>
              <a:t>Shreyansh Sahu  </a:t>
            </a:r>
            <a:r>
              <a:rPr lang="en-IN" sz="1200" b="1" i="1" dirty="0"/>
              <a:t>(Presentation, Frontend Development) – (TEAM LEAD)</a:t>
            </a:r>
            <a:r>
              <a:rPr lang="en-IN" sz="1200" dirty="0">
                <a:latin typeface="Carlito"/>
              </a:rPr>
              <a:t>;</a:t>
            </a:r>
            <a:endParaRPr lang="en-IN" sz="1750" dirty="0">
              <a:latin typeface="Carlito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750" dirty="0">
                <a:latin typeface="Carlito"/>
              </a:rPr>
              <a:t>Aayush Acharjee  </a:t>
            </a:r>
            <a:r>
              <a:rPr lang="en-IN" sz="1200" b="1" i="1" dirty="0"/>
              <a:t>(Figma &amp; UI)</a:t>
            </a:r>
            <a:r>
              <a:rPr lang="en-IN" sz="1750" dirty="0">
                <a:latin typeface="Carlito"/>
              </a:rPr>
              <a:t>.</a:t>
            </a:r>
            <a:endParaRPr lang="en-IN" sz="500" b="0" dirty="0">
              <a:latin typeface="Carlito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IN" sz="500" b="0" dirty="0">
              <a:latin typeface="Carlito"/>
            </a:endParaRPr>
          </a:p>
          <a:p>
            <a:endParaRPr lang="en-IN" sz="500" dirty="0">
              <a:latin typeface="Carlito"/>
            </a:endParaRPr>
          </a:p>
          <a:p>
            <a:endParaRPr sz="1750" b="0" i="1" dirty="0">
              <a:solidFill>
                <a:srgbClr val="5A5A5A"/>
              </a:solidFill>
              <a:latin typeface="Carlito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360920" y="1325880"/>
            <a:ext cx="4297680" cy="4297680"/>
          </a:xfrm>
          <a:prstGeom prst="ellipse">
            <a:avLst/>
          </a:prstGeom>
          <a:solidFill>
            <a:srgbClr val="F5F0EE"/>
          </a:solidFill>
          <a:ln w="254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1600200"/>
            <a:ext cx="3749039" cy="374903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001861"/>
            <a:ext cx="3383280" cy="5950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2400" b="1" i="0" dirty="0">
                <a:solidFill>
                  <a:srgbClr val="8B1A1A"/>
                </a:solidFill>
                <a:latin typeface="Caladea"/>
              </a:rPr>
              <a:t>UNITRACKER</a:t>
            </a:r>
            <a:endParaRPr sz="2400" b="1" i="0" dirty="0">
              <a:solidFill>
                <a:srgbClr val="8B1A1A"/>
              </a:solidFill>
              <a:latin typeface="Caladea"/>
            </a:endParaRPr>
          </a:p>
          <a:p>
            <a:pPr algn="ctr"/>
            <a:r>
              <a:rPr lang="en-IN" sz="1300" b="1" i="0" dirty="0">
                <a:solidFill>
                  <a:srgbClr val="5A5A5A"/>
                </a:solidFill>
                <a:latin typeface="Carlito"/>
              </a:rPr>
              <a:t>Smart</a:t>
            </a:r>
            <a:r>
              <a:rPr sz="1300" b="1" i="0" dirty="0">
                <a:solidFill>
                  <a:srgbClr val="5A5A5A"/>
                </a:solidFill>
                <a:latin typeface="Carlito"/>
              </a:rPr>
              <a:t> Student Event 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355510"/>
            <a:ext cx="3108960" cy="475488"/>
          </a:xfrm>
          <a:prstGeom prst="roundRect">
            <a:avLst>
              <a:gd name="adj" fmla="val 35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9402" y="3478554"/>
            <a:ext cx="292607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it-IT" sz="1250" b="1" dirty="0">
                <a:solidFill>
                  <a:schemeClr val="bg1"/>
                </a:solidFill>
                <a:latin typeface="Carlito"/>
              </a:rPr>
              <a:t>2. Gemini 2.5 API + Poster OCR</a:t>
            </a:r>
          </a:p>
          <a:p>
            <a:pPr algn="ctr"/>
            <a:endParaRPr sz="1250" b="1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55279" y="2738459"/>
            <a:ext cx="3108960" cy="475488"/>
          </a:xfrm>
          <a:prstGeom prst="roundRect">
            <a:avLst>
              <a:gd name="adj" fmla="val 35000"/>
            </a:avLst>
          </a:prstGeom>
          <a:solidFill>
            <a:srgbClr val="F9F1F0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9" y="2880023"/>
            <a:ext cx="2926079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250" b="1" dirty="0">
                <a:solidFill>
                  <a:srgbClr val="C00000"/>
                </a:solidFill>
                <a:latin typeface="Carlito"/>
              </a:rPr>
              <a:t>1. Gmail OAuth + Telegram Bot</a:t>
            </a:r>
            <a:endParaRPr sz="1250" b="1" i="0" dirty="0">
              <a:solidFill>
                <a:srgbClr val="C00000"/>
              </a:solidFill>
              <a:latin typeface="Carlit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55279" y="4041648"/>
            <a:ext cx="3108960" cy="475488"/>
          </a:xfrm>
          <a:prstGeom prst="roundRect">
            <a:avLst>
              <a:gd name="adj" fmla="val 35000"/>
            </a:avLst>
          </a:prstGeom>
          <a:solidFill>
            <a:srgbClr val="F9F1F0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9" y="4183211"/>
            <a:ext cx="2926079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dirty="0">
                <a:solidFill>
                  <a:srgbClr val="8B1A1A"/>
                </a:solidFill>
                <a:latin typeface="Carlito"/>
              </a:rPr>
              <a:t>3. </a:t>
            </a:r>
            <a:r>
              <a:rPr lang="en-IN" sz="1250" b="1" i="0" dirty="0">
                <a:solidFill>
                  <a:srgbClr val="8B1A1A"/>
                </a:solidFill>
                <a:latin typeface="Carlito"/>
              </a:rPr>
              <a:t>Clarified</a:t>
            </a:r>
            <a:r>
              <a:rPr sz="1250" b="1" i="0" dirty="0">
                <a:solidFill>
                  <a:srgbClr val="8B1A1A"/>
                </a:solidFill>
                <a:latin typeface="Carlito"/>
              </a:rPr>
              <a:t> 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9F3F1-B448-BD90-C756-D22902642182}"/>
              </a:ext>
            </a:extLst>
          </p:cNvPr>
          <p:cNvSpPr txBox="1"/>
          <p:nvPr/>
        </p:nvSpPr>
        <p:spPr>
          <a:xfrm>
            <a:off x="391668" y="6514208"/>
            <a:ext cx="2218572" cy="200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300" dirty="0">
                <a:solidFill>
                  <a:srgbClr val="FFFFFF"/>
                </a:solidFill>
                <a:latin typeface="Carlito"/>
              </a:rPr>
              <a:t>@</a:t>
            </a:r>
            <a:r>
              <a:rPr lang="en-IN" sz="1300" b="0" i="0" dirty="0">
                <a:solidFill>
                  <a:srgbClr val="FFFFFF"/>
                </a:solidFill>
                <a:latin typeface="Carlito"/>
              </a:rPr>
              <a:t>UniTracker</a:t>
            </a:r>
            <a:r>
              <a:rPr sz="1300" b="0" i="0" dirty="0">
                <a:solidFill>
                  <a:srgbClr val="FFFFFF"/>
                </a:solidFill>
                <a:latin typeface="Carlito"/>
              </a:rPr>
              <a:t> (Team ARROWS)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9509EF-2B84-B9DF-EDE1-4AC0D0263F0A}"/>
              </a:ext>
            </a:extLst>
          </p:cNvPr>
          <p:cNvSpPr txBox="1"/>
          <p:nvPr/>
        </p:nvSpPr>
        <p:spPr>
          <a:xfrm>
            <a:off x="11608308" y="6506513"/>
            <a:ext cx="19202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400" dirty="0">
                <a:solidFill>
                  <a:srgbClr val="FFFFFF"/>
                </a:solidFill>
                <a:latin typeface="Carlito"/>
              </a:rPr>
              <a:t>1</a:t>
            </a:r>
            <a:endParaRPr sz="1400" b="0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5314B-C061-8AC9-E345-967266A214AE}"/>
              </a:ext>
            </a:extLst>
          </p:cNvPr>
          <p:cNvSpPr txBox="1"/>
          <p:nvPr/>
        </p:nvSpPr>
        <p:spPr>
          <a:xfrm>
            <a:off x="548640" y="4882244"/>
            <a:ext cx="70866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Carlito"/>
              </a:rPr>
              <a:t>One-line Solution : </a:t>
            </a:r>
            <a:r>
              <a:rPr lang="en-IN" sz="2000" b="1" i="1" dirty="0">
                <a:solidFill>
                  <a:srgbClr val="FFC000"/>
                </a:solidFill>
              </a:rPr>
              <a:t>An AI workflow that turns emails confirmations &amp; WhatsApp opportunities updates into a live timeline.</a:t>
            </a:r>
            <a:endParaRPr sz="2000" b="1" i="1" dirty="0">
              <a:solidFill>
                <a:srgbClr val="FFC000"/>
              </a:solidFill>
              <a:latin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8840" y="299519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3000" b="1" i="0" dirty="0">
                <a:solidFill>
                  <a:srgbClr val="8B1A1A"/>
                </a:solidFill>
                <a:latin typeface="Caladea"/>
              </a:rPr>
              <a:t>PROBLEM</a:t>
            </a:r>
            <a:endParaRPr sz="3000" b="1" i="0" dirty="0">
              <a:solidFill>
                <a:srgbClr val="8B1A1A"/>
              </a:solidFill>
              <a:latin typeface="Calade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81160" y="279400"/>
            <a:ext cx="2560320" cy="433832"/>
          </a:xfrm>
          <a:prstGeom prst="roundRect">
            <a:avLst>
              <a:gd name="adj" fmla="val 15000"/>
            </a:avLst>
          </a:prstGeom>
          <a:solidFill>
            <a:srgbClr val="F9F1F0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72600" y="414434"/>
            <a:ext cx="23774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 dirty="0">
                <a:solidFill>
                  <a:srgbClr val="8B1A1A"/>
                </a:solidFill>
                <a:latin typeface="Caladea"/>
              </a:rPr>
              <a:t>HACKSHIFT 2026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520" y="6501940"/>
            <a:ext cx="2269372" cy="200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rlito"/>
              </a:rPr>
              <a:t>@</a:t>
            </a:r>
            <a:r>
              <a:rPr lang="en-IN" sz="1300" dirty="0">
                <a:solidFill>
                  <a:srgbClr val="FFFFFF"/>
                </a:solidFill>
                <a:latin typeface="Carlito"/>
              </a:rPr>
              <a:t>UniTracker</a:t>
            </a:r>
            <a:r>
              <a:rPr sz="1300" b="0" i="0" dirty="0">
                <a:solidFill>
                  <a:srgbClr val="FFFFFF"/>
                </a:solidFill>
                <a:latin typeface="Carlito"/>
              </a:rPr>
              <a:t> (Team ARROWS)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4246"/>
            <a:ext cx="7772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400" b="0" i="0" dirty="0">
                <a:solidFill>
                  <a:srgbClr val="FFFFFF"/>
                </a:solidFill>
                <a:latin typeface="Carlito"/>
              </a:rPr>
              <a:t>2</a:t>
            </a:r>
            <a:endParaRPr sz="1400" b="0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1139206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rgbClr val="8B1A1A"/>
                </a:solidFill>
                <a:latin typeface="Carlito"/>
              </a:rPr>
              <a:t>Problem-Statement</a:t>
            </a:r>
            <a:r>
              <a:rPr lang="en-IN" sz="2200" b="1" i="0" dirty="0">
                <a:solidFill>
                  <a:srgbClr val="8B1A1A"/>
                </a:solidFill>
                <a:latin typeface="Carlito"/>
              </a:rPr>
              <a:t> </a:t>
            </a:r>
            <a:r>
              <a:rPr lang="en-IN" sz="2200" b="1" dirty="0">
                <a:solidFill>
                  <a:srgbClr val="8B1A1A"/>
                </a:solidFill>
                <a:latin typeface="Carlito"/>
              </a:rPr>
              <a:t>:</a:t>
            </a:r>
            <a:endParaRPr sz="2200" b="1" i="0" dirty="0">
              <a:solidFill>
                <a:srgbClr val="8B1A1A"/>
              </a:solidFill>
              <a:latin typeface="Carli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5345" y="1726538"/>
            <a:ext cx="11396133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sz="1600" dirty="0"/>
              <a:t>Students register for multiple events, competitions, workshops, hackathons, and conferences, but their registrations, deadlines, venues, and schedules are scattered across different platforms.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IN" sz="130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2FA1C0-8CCF-BCC0-FF4F-13D092860F2D}"/>
              </a:ext>
            </a:extLst>
          </p:cNvPr>
          <p:cNvSpPr txBox="1"/>
          <p:nvPr/>
        </p:nvSpPr>
        <p:spPr>
          <a:xfrm>
            <a:off x="8435340" y="4599430"/>
            <a:ext cx="60350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rlito"/>
              </a:rPr>
              <a:t>Medium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972AD3-0241-80BF-415D-260E4E61E712}"/>
              </a:ext>
            </a:extLst>
          </p:cNvPr>
          <p:cNvSpPr txBox="1"/>
          <p:nvPr/>
        </p:nvSpPr>
        <p:spPr>
          <a:xfrm>
            <a:off x="411480" y="2506503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rgbClr val="8B1A1A"/>
                </a:solidFill>
                <a:latin typeface="Carlito"/>
              </a:rPr>
              <a:t>Target</a:t>
            </a:r>
            <a:r>
              <a:rPr lang="en-IN" sz="2400" b="1" dirty="0">
                <a:solidFill>
                  <a:srgbClr val="8B1A1A"/>
                </a:solidFill>
                <a:latin typeface="Carlito"/>
              </a:rPr>
              <a:t> – Users :</a:t>
            </a:r>
            <a:endParaRPr sz="2400" b="1" i="0" dirty="0">
              <a:solidFill>
                <a:srgbClr val="8B1A1A"/>
              </a:solidFill>
              <a:latin typeface="Carlit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D6F1F6-098B-B69A-2D14-CD272A83963B}"/>
              </a:ext>
            </a:extLst>
          </p:cNvPr>
          <p:cNvSpPr txBox="1"/>
          <p:nvPr/>
        </p:nvSpPr>
        <p:spPr>
          <a:xfrm>
            <a:off x="411480" y="4201020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rgbClr val="8B1A1A"/>
                </a:solidFill>
                <a:latin typeface="Carlito"/>
              </a:rPr>
              <a:t>Existing Gaps </a:t>
            </a:r>
            <a:r>
              <a:rPr lang="en-IN" sz="2400" b="1" dirty="0">
                <a:solidFill>
                  <a:srgbClr val="8B1A1A"/>
                </a:solidFill>
                <a:latin typeface="Carlito"/>
              </a:rPr>
              <a:t>:</a:t>
            </a:r>
            <a:endParaRPr sz="2400" b="1" i="0" dirty="0">
              <a:solidFill>
                <a:srgbClr val="8B1A1A"/>
              </a:solidFill>
              <a:latin typeface="Carlito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D59E50-A048-666A-04D8-E2D0B6FF63D2}"/>
              </a:ext>
            </a:extLst>
          </p:cNvPr>
          <p:cNvSpPr txBox="1"/>
          <p:nvPr/>
        </p:nvSpPr>
        <p:spPr>
          <a:xfrm>
            <a:off x="109727" y="2875293"/>
            <a:ext cx="11731751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58368" lvl="1" indent="-201168">
              <a:spcAft>
                <a:spcPts val="400"/>
              </a:spcAft>
              <a:buFont typeface="Carlito"/>
              <a:buChar char="•"/>
            </a:pPr>
            <a:endParaRPr lang="en-IN" sz="1000" b="1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rlito"/>
              </a:rPr>
              <a:t>Students &amp; Hackathon Teams: </a:t>
            </a:r>
            <a:r>
              <a:rPr lang="en-US" sz="1600" dirty="0">
                <a:solidFill>
                  <a:srgbClr val="1A1A1A"/>
                </a:solidFill>
                <a:latin typeface="Carlito"/>
              </a:rPr>
              <a:t>Never miss a submission window, shortlist announcement, or campus departure time.</a:t>
            </a:r>
          </a:p>
          <a:p>
            <a:pPr marL="658368" lvl="1" indent="-201168">
              <a:spcAft>
                <a:spcPts val="400"/>
              </a:spcAft>
              <a:buFont typeface="Carlito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rlito"/>
              </a:rPr>
              <a:t>College Societies &amp; Organizers: </a:t>
            </a:r>
            <a:r>
              <a:rPr lang="en-US" sz="1600" dirty="0">
                <a:solidFill>
                  <a:srgbClr val="1A1A1A"/>
                </a:solidFill>
                <a:latin typeface="Carlito"/>
              </a:rPr>
              <a:t>Higher verified participant turnout at offline rounds and fewer deadline queries.</a:t>
            </a:r>
          </a:p>
          <a:p>
            <a:pPr marL="658368" lvl="1" indent="-201168">
              <a:spcAft>
                <a:spcPts val="400"/>
              </a:spcAft>
              <a:buFont typeface="Carlito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rlito"/>
              </a:rPr>
              <a:t>Working Professional : </a:t>
            </a:r>
            <a:r>
              <a:rPr lang="en-US" sz="1600" dirty="0">
                <a:solidFill>
                  <a:srgbClr val="1A1A1A"/>
                </a:solidFill>
                <a:latin typeface="Carlito"/>
              </a:rPr>
              <a:t>Manage their meetings ,events and tasks at a single platform with zero-manual clicks.</a:t>
            </a:r>
            <a:endParaRPr lang="en-US" sz="1600" b="1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4C94D7-0D77-278B-08C8-71CAB5383E87}"/>
              </a:ext>
            </a:extLst>
          </p:cNvPr>
          <p:cNvSpPr txBox="1"/>
          <p:nvPr/>
        </p:nvSpPr>
        <p:spPr>
          <a:xfrm>
            <a:off x="137160" y="4786467"/>
            <a:ext cx="11704320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IN" sz="1600" dirty="0">
                <a:solidFill>
                  <a:srgbClr val="1A1A1A"/>
                </a:solidFill>
                <a:latin typeface="Carlito"/>
              </a:rPr>
              <a:t>Manual data entry, tracking multi-round states manually and pining PPT/Discord links to notes apps for being updated about different events.</a:t>
            </a: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IN" sz="1600" b="0" i="0" dirty="0">
                <a:solidFill>
                  <a:srgbClr val="1A1A1A"/>
                </a:solidFill>
                <a:latin typeface="Carlito"/>
              </a:rPr>
              <a:t>Different platforms for </a:t>
            </a:r>
            <a:r>
              <a:rPr lang="en-IN" sz="1600" dirty="0">
                <a:solidFill>
                  <a:srgbClr val="1A1A1A"/>
                </a:solidFill>
                <a:latin typeface="Carlito"/>
              </a:rPr>
              <a:t>different events make the task management more </a:t>
            </a:r>
            <a:r>
              <a:rPr lang="en-IN" sz="1600" b="0" i="0" dirty="0">
                <a:solidFill>
                  <a:srgbClr val="1A1A1A"/>
                </a:solidFill>
                <a:latin typeface="Carlito"/>
              </a:rPr>
              <a:t>complex as registration happens on different platform.</a:t>
            </a:r>
            <a:endParaRPr sz="1600" b="0" i="0" dirty="0">
              <a:solidFill>
                <a:srgbClr val="1A1A1A"/>
              </a:solidFill>
              <a:latin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368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84130"/>
            <a:ext cx="68580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3200" b="1" dirty="0">
                <a:solidFill>
                  <a:srgbClr val="8B1A1A"/>
                </a:solidFill>
                <a:latin typeface="Carlito"/>
              </a:rPr>
              <a:t>Proposed Solution</a:t>
            </a:r>
            <a:endParaRPr sz="3000" b="1" i="0" dirty="0">
              <a:solidFill>
                <a:srgbClr val="8B1A1A"/>
              </a:solidFill>
              <a:latin typeface="Calade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81160" y="304800"/>
            <a:ext cx="2560320" cy="390143"/>
          </a:xfrm>
          <a:prstGeom prst="roundRect">
            <a:avLst>
              <a:gd name="adj" fmla="val 15000"/>
            </a:avLst>
          </a:prstGeom>
          <a:solidFill>
            <a:srgbClr val="F9F1F0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72600" y="414434"/>
            <a:ext cx="23774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 dirty="0">
                <a:solidFill>
                  <a:srgbClr val="8B1A1A"/>
                </a:solidFill>
                <a:latin typeface="Caladea"/>
              </a:rPr>
              <a:t>HACKSHIFT 2026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6509636"/>
            <a:ext cx="2218572" cy="200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rlito"/>
              </a:rPr>
              <a:t>@</a:t>
            </a:r>
            <a:r>
              <a:rPr lang="en-IN" sz="1300" dirty="0">
                <a:solidFill>
                  <a:srgbClr val="FFFFFF"/>
                </a:solidFill>
                <a:latin typeface="Carlito"/>
              </a:rPr>
              <a:t>UniTracker</a:t>
            </a:r>
            <a:r>
              <a:rPr sz="1300" b="0" i="0" dirty="0">
                <a:solidFill>
                  <a:srgbClr val="FFFFFF"/>
                </a:solidFill>
                <a:latin typeface="Carlito"/>
              </a:rPr>
              <a:t> (Team ARROWS)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67744" y="6494246"/>
            <a:ext cx="17373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400" b="0" i="0" dirty="0">
                <a:solidFill>
                  <a:srgbClr val="FFFFFF"/>
                </a:solidFill>
                <a:latin typeface="Carlito"/>
              </a:rPr>
              <a:t>3</a:t>
            </a:r>
            <a:endParaRPr sz="1400" b="0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1177992"/>
            <a:ext cx="58064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solidFill>
                  <a:srgbClr val="8B1A1A"/>
                </a:solidFill>
                <a:latin typeface="Caladea"/>
              </a:rPr>
              <a:t>UniTracker : </a:t>
            </a:r>
            <a:r>
              <a:rPr sz="2200" b="1" i="0" dirty="0">
                <a:solidFill>
                  <a:srgbClr val="8B1A1A"/>
                </a:solidFill>
                <a:latin typeface="Carlito"/>
              </a:rPr>
              <a:t>An AI </a:t>
            </a:r>
            <a:r>
              <a:rPr lang="en-IN" sz="2200" b="1" i="0" dirty="0">
                <a:solidFill>
                  <a:srgbClr val="8B1A1A"/>
                </a:solidFill>
                <a:latin typeface="Carlito"/>
              </a:rPr>
              <a:t>workflow</a:t>
            </a:r>
            <a:r>
              <a:rPr sz="2200" b="1" i="0" dirty="0">
                <a:solidFill>
                  <a:srgbClr val="8B1A1A"/>
                </a:solidFill>
                <a:latin typeface="Carlito"/>
              </a:rPr>
              <a:t> that turns emails &amp; WhatsApp posters into a live timeline</a:t>
            </a:r>
            <a:r>
              <a:rPr lang="en-IN" sz="2200" b="1" i="0" dirty="0">
                <a:solidFill>
                  <a:srgbClr val="8B1A1A"/>
                </a:solidFill>
                <a:latin typeface="Carlito"/>
              </a:rPr>
              <a:t>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475" y="2184997"/>
            <a:ext cx="5806440" cy="3534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b="1" i="0" dirty="0">
                <a:solidFill>
                  <a:srgbClr val="1A1A1A"/>
                </a:solidFill>
                <a:latin typeface="Carlito"/>
              </a:rPr>
              <a:t>Detailed explanation </a:t>
            </a:r>
            <a:r>
              <a:rPr lang="en-IN" b="1" i="0" dirty="0">
                <a:solidFill>
                  <a:srgbClr val="1A1A1A"/>
                </a:solidFill>
                <a:latin typeface="Carlito"/>
              </a:rPr>
              <a:t>:</a:t>
            </a:r>
            <a:endParaRPr b="1" i="0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Auto-Syncing Email Pipeline: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Read-only Gmail OAuth filter captures Unstop/Devfolio confirmations and shortlist emails automatically.</a:t>
            </a: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Forward-to-Bot WhatsApp Ingestor: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Students forward any fest message or poster image to our bot for instant LLM + Vision OCR extraction.</a:t>
            </a:r>
          </a:p>
          <a:p>
            <a:pPr marL="658368" lvl="1" indent="-201168">
              <a:spcAft>
                <a:spcPts val="40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Multi-Stage Event Timeline: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Merges Round 1 PPT, Shortlist, and Offline Finale updates into one progressive competition card.</a:t>
            </a:r>
            <a:endParaRPr lang="en-IN" sz="1400" b="0" i="0" dirty="0">
              <a:solidFill>
                <a:srgbClr val="1A1A1A"/>
              </a:solidFill>
              <a:latin typeface="Carlito"/>
            </a:endParaRPr>
          </a:p>
          <a:p>
            <a:pPr lvl="1">
              <a:spcAft>
                <a:spcPts val="400"/>
              </a:spcAft>
            </a:pPr>
            <a:endParaRPr sz="1300" b="0" i="0" dirty="0">
              <a:solidFill>
                <a:srgbClr val="1A1A1A"/>
              </a:solidFill>
              <a:latin typeface="Carlito"/>
            </a:endParaRP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b="1" i="0" dirty="0">
                <a:solidFill>
                  <a:srgbClr val="1A1A1A"/>
                </a:solidFill>
                <a:latin typeface="Carlito"/>
              </a:rPr>
              <a:t>Innovation and uniqueness of the solution</a:t>
            </a:r>
            <a:r>
              <a:rPr lang="en-IN" b="1" i="0" dirty="0">
                <a:solidFill>
                  <a:srgbClr val="1A1A1A"/>
                </a:solidFill>
                <a:latin typeface="Carlito"/>
              </a:rPr>
              <a:t> :</a:t>
            </a:r>
            <a:endParaRPr b="1" i="0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Deliverable &amp; Asset Vault: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Pins PPT templates, Discord links, and QR passes directly inside the timeline card.</a:t>
            </a:r>
          </a:p>
          <a:p>
            <a:pPr marL="658368" lvl="1" indent="-201168">
              <a:spcAft>
                <a:spcPts val="20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Smart Clash &amp; </a:t>
            </a:r>
            <a:r>
              <a:rPr lang="en-IN" sz="1400" b="1" i="0" dirty="0">
                <a:solidFill>
                  <a:srgbClr val="1A1A1A"/>
                </a:solidFill>
                <a:latin typeface="Carlito"/>
              </a:rPr>
              <a:t>Travel</a:t>
            </a:r>
            <a:r>
              <a:rPr sz="1400" b="1" i="0" dirty="0">
                <a:solidFill>
                  <a:srgbClr val="1A1A1A"/>
                </a:solidFill>
                <a:latin typeface="Carlito"/>
              </a:rPr>
              <a:t> Guard: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Flags exam overlaps and calculates 'Leave Campus By' buffer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 time.</a:t>
            </a:r>
            <a:endParaRPr sz="140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19088" y="1115568"/>
            <a:ext cx="5413248" cy="5029200"/>
          </a:xfrm>
          <a:prstGeom prst="rect">
            <a:avLst/>
          </a:prstGeom>
          <a:solidFill>
            <a:srgbClr val="F5F0EE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0" y="1243584"/>
            <a:ext cx="5084064" cy="4773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1243584"/>
            <a:ext cx="5084064" cy="420624"/>
          </a:xfrm>
          <a:prstGeom prst="roundRect">
            <a:avLst>
              <a:gd name="adj" fmla="val 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353868"/>
            <a:ext cx="480974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adea"/>
              </a:rPr>
              <a:t> </a:t>
            </a:r>
            <a:r>
              <a:rPr lang="en-IN" sz="1300" b="1" dirty="0">
                <a:solidFill>
                  <a:srgbClr val="FFFFFF"/>
                </a:solidFill>
                <a:latin typeface="Carlito"/>
              </a:rPr>
              <a:t>UNITRACKER</a:t>
            </a:r>
            <a:r>
              <a:rPr sz="1300" b="1" i="0" dirty="0">
                <a:solidFill>
                  <a:srgbClr val="FFFFFF"/>
                </a:solidFill>
                <a:latin typeface="Caladea"/>
              </a:rPr>
              <a:t> — </a:t>
            </a:r>
            <a:r>
              <a:rPr lang="en-IN" sz="1300" b="1" dirty="0">
                <a:solidFill>
                  <a:srgbClr val="FFFFFF"/>
                </a:solidFill>
                <a:latin typeface="Caladea"/>
              </a:rPr>
              <a:t>PREVIEW</a:t>
            </a:r>
            <a:endParaRPr sz="1300" b="1" i="0" dirty="0">
              <a:solidFill>
                <a:srgbClr val="FFFFFF"/>
              </a:solidFill>
              <a:latin typeface="Calad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709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8B1A1A"/>
                </a:solidFill>
                <a:latin typeface="Carlito"/>
              </a:rPr>
              <a:t>1. Forward WhatsApp poster</a:t>
            </a:r>
            <a:r>
              <a:rPr lang="en-IN" sz="1300" b="1" i="0" dirty="0">
                <a:solidFill>
                  <a:srgbClr val="8B1A1A"/>
                </a:solidFill>
                <a:latin typeface="Carlito"/>
              </a:rPr>
              <a:t> to Telegram</a:t>
            </a:r>
            <a:r>
              <a:rPr sz="1300" b="1" i="0" dirty="0">
                <a:solidFill>
                  <a:srgbClr val="8B1A1A"/>
                </a:solidFill>
                <a:latin typeface="Carlito"/>
              </a:rPr>
              <a:t> or auto-sync Gmail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048256"/>
            <a:ext cx="4718304" cy="530352"/>
          </a:xfrm>
          <a:prstGeom prst="roundRect">
            <a:avLst>
              <a:gd name="adj" fmla="val 18000"/>
            </a:avLst>
          </a:prstGeom>
          <a:solidFill>
            <a:srgbClr val="F9F1F0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4576" y="2121408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 i="1">
                <a:solidFill>
                  <a:srgbClr val="1A1A1A"/>
                </a:solidFill>
                <a:latin typeface="Carlito"/>
              </a:rPr>
              <a:t>“HackShift 2026! PPT due Oct 15, Finale @ IIITD Oct 17”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05872" y="2112264"/>
            <a:ext cx="987552" cy="402336"/>
          </a:xfrm>
          <a:prstGeom prst="roundRect">
            <a:avLst>
              <a:gd name="adj" fmla="val 25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97312" y="2221099"/>
            <a:ext cx="80467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200" b="1" i="0" dirty="0">
                <a:solidFill>
                  <a:srgbClr val="FFFFFF"/>
                </a:solidFill>
                <a:latin typeface="Carlito"/>
              </a:rPr>
              <a:t>Submit</a:t>
            </a:r>
            <a:endParaRPr sz="1200" b="1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6560" y="2688336"/>
            <a:ext cx="4709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8B1A1A"/>
                </a:solidFill>
                <a:latin typeface="Carlito"/>
              </a:rPr>
              <a:t>2. Three-stage pipeline extracts &amp; merges rounds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980944"/>
            <a:ext cx="1426464" cy="786384"/>
          </a:xfrm>
          <a:prstGeom prst="roundRect">
            <a:avLst>
              <a:gd name="adj" fmla="val 14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3184340"/>
            <a:ext cx="1243584" cy="379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IN" sz="1200" b="1" i="0" dirty="0">
                <a:solidFill>
                  <a:srgbClr val="FFFFFF"/>
                </a:solidFill>
                <a:latin typeface="Carlito"/>
              </a:rPr>
              <a:t>REVIEW</a:t>
            </a:r>
            <a:endParaRPr sz="1200" b="1" i="0" dirty="0">
              <a:solidFill>
                <a:srgbClr val="FFFFFF"/>
              </a:solidFill>
              <a:latin typeface="Carlito"/>
            </a:endParaRPr>
          </a:p>
          <a:p>
            <a:pPr algn="ctr"/>
            <a:r>
              <a:rPr sz="1100" b="0" i="0" dirty="0">
                <a:solidFill>
                  <a:srgbClr val="E8CFCF"/>
                </a:solidFill>
                <a:latin typeface="Carlito"/>
              </a:rPr>
              <a:t>Gmail + </a:t>
            </a:r>
            <a:r>
              <a:rPr lang="en-IN" sz="1100" dirty="0">
                <a:solidFill>
                  <a:srgbClr val="E8CFCF"/>
                </a:solidFill>
                <a:latin typeface="Carlito"/>
              </a:rPr>
              <a:t>Telegram</a:t>
            </a:r>
            <a:r>
              <a:rPr sz="1100" b="0" i="0" dirty="0">
                <a:solidFill>
                  <a:srgbClr val="E8CFCF"/>
                </a:solidFill>
                <a:latin typeface="Carlito"/>
              </a:rPr>
              <a:t> Bot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229600" y="3273552"/>
            <a:ext cx="146304" cy="182880"/>
          </a:xfrm>
          <a:prstGeom prst="right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0" y="2980944"/>
            <a:ext cx="1426464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19" y="3035808"/>
            <a:ext cx="1243584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 dirty="0">
                <a:solidFill>
                  <a:srgbClr val="8B1A1A"/>
                </a:solidFill>
                <a:latin typeface="Carlito"/>
              </a:rPr>
              <a:t>GEMINI 2.5</a:t>
            </a:r>
          </a:p>
          <a:p>
            <a:pPr algn="ctr"/>
            <a:r>
              <a:rPr sz="1100" b="0" i="0" dirty="0">
                <a:solidFill>
                  <a:srgbClr val="5A5A5A"/>
                </a:solidFill>
                <a:latin typeface="Carlito"/>
              </a:rPr>
              <a:t>JSON + Poster OCR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75520" y="3273552"/>
            <a:ext cx="146304" cy="182880"/>
          </a:xfrm>
          <a:prstGeom prst="right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58400" y="2980944"/>
            <a:ext cx="1426464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9840" y="3184340"/>
            <a:ext cx="1243584" cy="379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IN" sz="1200" b="1" dirty="0">
                <a:solidFill>
                  <a:srgbClr val="8B1A1A"/>
                </a:solidFill>
                <a:latin typeface="Carlito"/>
              </a:rPr>
              <a:t>MERGE</a:t>
            </a:r>
            <a:endParaRPr sz="1200" b="1" i="0" dirty="0">
              <a:solidFill>
                <a:srgbClr val="8B1A1A"/>
              </a:solidFill>
              <a:latin typeface="Carlito"/>
            </a:endParaRPr>
          </a:p>
          <a:p>
            <a:pPr algn="ctr"/>
            <a:r>
              <a:rPr sz="1100" b="0" i="0" dirty="0">
                <a:solidFill>
                  <a:srgbClr val="5A5A5A"/>
                </a:solidFill>
                <a:latin typeface="Carlito"/>
              </a:rPr>
              <a:t>Merges rounds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822191"/>
            <a:ext cx="47091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1" dirty="0">
                <a:solidFill>
                  <a:srgbClr val="5A5A5A"/>
                </a:solidFill>
                <a:latin typeface="Carlito"/>
              </a:rPr>
              <a:t>Confirmation emails &amp; updates merge into one parent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078224"/>
            <a:ext cx="47091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 dirty="0">
                <a:solidFill>
                  <a:srgbClr val="8B1A1A"/>
                </a:solidFill>
                <a:latin typeface="Carlito"/>
              </a:rPr>
              <a:t>3. </a:t>
            </a:r>
            <a:r>
              <a:rPr lang="en-IN" sz="1300" b="1" i="0" dirty="0">
                <a:solidFill>
                  <a:srgbClr val="8B1A1A"/>
                </a:solidFill>
                <a:latin typeface="Carlito"/>
              </a:rPr>
              <a:t>E</a:t>
            </a:r>
            <a:r>
              <a:rPr sz="1300" b="1" i="0" dirty="0">
                <a:solidFill>
                  <a:srgbClr val="8B1A1A"/>
                </a:solidFill>
                <a:latin typeface="Carlito"/>
              </a:rPr>
              <a:t>vent Card</a:t>
            </a:r>
            <a:r>
              <a:rPr lang="en-IN" sz="1300" b="1" i="0" dirty="0">
                <a:solidFill>
                  <a:srgbClr val="8B1A1A"/>
                </a:solidFill>
                <a:latin typeface="Carlito"/>
              </a:rPr>
              <a:t> </a:t>
            </a:r>
            <a:r>
              <a:rPr sz="1300" b="1" i="0" dirty="0">
                <a:solidFill>
                  <a:srgbClr val="8B1A1A"/>
                </a:solidFill>
                <a:latin typeface="Carlito"/>
              </a:rPr>
              <a:t>&amp; Buffer</a:t>
            </a:r>
            <a:r>
              <a:rPr lang="en-IN" sz="1300" b="1" i="0" dirty="0">
                <a:solidFill>
                  <a:srgbClr val="8B1A1A"/>
                </a:solidFill>
                <a:latin typeface="Carlito"/>
              </a:rPr>
              <a:t> time</a:t>
            </a:r>
            <a:endParaRPr sz="1300" b="1" i="0" dirty="0">
              <a:solidFill>
                <a:srgbClr val="8B1A1A"/>
              </a:solidFill>
              <a:latin typeface="Carlito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766560" y="4370832"/>
            <a:ext cx="4718304" cy="1481328"/>
          </a:xfrm>
          <a:prstGeom prst="roundRect">
            <a:avLst>
              <a:gd name="adj" fmla="val 8000"/>
            </a:avLst>
          </a:prstGeom>
          <a:solidFill>
            <a:srgbClr val="F9F1F0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12864" y="4462272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>
                <a:solidFill>
                  <a:srgbClr val="5A5A5A"/>
                </a:solidFill>
                <a:latin typeface="Carlito"/>
              </a:rPr>
              <a:t>CURRENT STAGE</a:t>
            </a:r>
          </a:p>
          <a:p>
            <a:r>
              <a:rPr sz="2200" b="1" i="0">
                <a:solidFill>
                  <a:srgbClr val="8B1A1A"/>
                </a:solidFill>
                <a:latin typeface="Caladea"/>
              </a:rPr>
              <a:t>SHORTLISTED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462272"/>
            <a:ext cx="1691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5A5A5A"/>
                </a:solidFill>
                <a:latin typeface="Carlito"/>
              </a:rPr>
              <a:t>LEAVE CAMPUS BY</a:t>
            </a:r>
          </a:p>
          <a:p>
            <a:pPr algn="r"/>
            <a:r>
              <a:rPr sz="2200" b="1" i="0">
                <a:solidFill>
                  <a:srgbClr val="8B1A1A"/>
                </a:solidFill>
                <a:latin typeface="Caladea"/>
              </a:rPr>
              <a:t>07:15 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12864" y="5175504"/>
            <a:ext cx="4425696" cy="146304"/>
          </a:xfrm>
          <a:prstGeom prst="roundRect">
            <a:avLst>
              <a:gd name="adj" fmla="val 50000"/>
            </a:avLst>
          </a:prstGeom>
          <a:solidFill>
            <a:srgbClr val="E8CFCF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912864" y="5175504"/>
            <a:ext cx="2147316" cy="146304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12864" y="5394960"/>
            <a:ext cx="4425696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150" b="1" i="0" dirty="0">
                <a:solidFill>
                  <a:srgbClr val="1A1A1A"/>
                </a:solidFill>
                <a:latin typeface="Carlito"/>
              </a:rPr>
              <a:t>Resources</a:t>
            </a:r>
            <a:r>
              <a:rPr sz="1150" b="1" i="0" dirty="0">
                <a:solidFill>
                  <a:srgbClr val="1A1A1A"/>
                </a:solidFill>
                <a:latin typeface="Carlito"/>
              </a:rPr>
              <a:t>: [PPT Template]  [Discord Link]  [QR Pass]  •  Route: Gr. Noida → IIITD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99519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3000" b="1" i="0" dirty="0">
                <a:solidFill>
                  <a:srgbClr val="8B1A1A"/>
                </a:solidFill>
                <a:latin typeface="Caladea"/>
              </a:rPr>
              <a:t>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329184"/>
            <a:ext cx="2560320" cy="402336"/>
          </a:xfrm>
          <a:prstGeom prst="roundRect">
            <a:avLst>
              <a:gd name="adj" fmla="val 15000"/>
            </a:avLst>
          </a:prstGeom>
          <a:solidFill>
            <a:srgbClr val="F9F1F0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72600" y="441772"/>
            <a:ext cx="23774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 dirty="0">
                <a:solidFill>
                  <a:srgbClr val="8B1A1A"/>
                </a:solidFill>
                <a:latin typeface="Caladea"/>
              </a:rPr>
              <a:t>HACKSHIFT 2026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501940"/>
            <a:ext cx="2213493" cy="200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rlito"/>
              </a:rPr>
              <a:t>@</a:t>
            </a:r>
            <a:r>
              <a:rPr lang="en-IN" sz="1300" dirty="0">
                <a:solidFill>
                  <a:srgbClr val="FFFFFF"/>
                </a:solidFill>
                <a:latin typeface="Carlito"/>
              </a:rPr>
              <a:t>UniT</a:t>
            </a:r>
            <a:r>
              <a:rPr lang="en-IN" sz="1300" b="0" i="0" dirty="0">
                <a:solidFill>
                  <a:srgbClr val="FFFFFF"/>
                </a:solidFill>
                <a:latin typeface="Carlito"/>
              </a:rPr>
              <a:t>racker</a:t>
            </a:r>
            <a:r>
              <a:rPr sz="1300" b="0" i="0" dirty="0">
                <a:solidFill>
                  <a:srgbClr val="FFFFFF"/>
                </a:solidFill>
                <a:latin typeface="Carlito"/>
              </a:rPr>
              <a:t> (Team ARROWS)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9456" y="6494246"/>
            <a:ext cx="19202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400" b="0" i="0" dirty="0">
                <a:solidFill>
                  <a:srgbClr val="FFFFFF"/>
                </a:solidFill>
                <a:latin typeface="Carlito"/>
              </a:rPr>
              <a:t>4</a:t>
            </a:r>
            <a:endParaRPr sz="1400" b="0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1282418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rgbClr val="8B1A1A"/>
                </a:solidFill>
                <a:latin typeface="Carlito"/>
              </a:rPr>
              <a:t>Technology Stack and Methodology</a:t>
            </a:r>
            <a:endParaRPr sz="2400" b="1" i="0" dirty="0">
              <a:solidFill>
                <a:srgbClr val="8B1A1A"/>
              </a:solidFill>
              <a:latin typeface="Carli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1960088"/>
            <a:ext cx="5870448" cy="400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b="1" i="0" dirty="0">
                <a:solidFill>
                  <a:srgbClr val="1A1A1A"/>
                </a:solidFill>
                <a:latin typeface="Carlito"/>
              </a:rPr>
              <a:t>Technology stack</a:t>
            </a:r>
            <a:r>
              <a:rPr lang="en-IN" b="1" i="0" dirty="0">
                <a:solidFill>
                  <a:srgbClr val="1A1A1A"/>
                </a:solidFill>
                <a:latin typeface="Carlito"/>
              </a:rPr>
              <a:t> :</a:t>
            </a:r>
            <a:endParaRPr b="1" i="0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4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Frontend &amp; UI: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HTML5, CSS3,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Bootstrap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 CSS, React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.js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(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Timeline +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Kanban views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) ,</a:t>
            </a:r>
            <a:r>
              <a:rPr lang="en-IN" sz="1400" dirty="0">
                <a:solidFill>
                  <a:srgbClr val="1A1A1A"/>
                </a:solidFill>
                <a:latin typeface="Carlito"/>
              </a:rPr>
              <a:t> Next.js and 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Figma.</a:t>
            </a:r>
          </a:p>
          <a:p>
            <a:pPr marL="658368" lvl="1" indent="-201168">
              <a:spcAft>
                <a:spcPts val="4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Backend &amp; Logic: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JavaScript, Python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.</a:t>
            </a:r>
          </a:p>
          <a:p>
            <a:pPr marL="658368" lvl="1" indent="-201168">
              <a:spcAft>
                <a:spcPts val="4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AI &amp; OCR Engine: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Gemini 2.5 Flash API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and Vision OCR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.</a:t>
            </a:r>
          </a:p>
          <a:p>
            <a:pPr marL="658368" lvl="1" indent="-201168">
              <a:spcAft>
                <a:spcPts val="60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Database &amp; APIs: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MySQL,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 Gmail API (OAuth2), Twilio WhatsApp / Telegram Bot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, Google Maps API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.</a:t>
            </a:r>
            <a:endParaRPr lang="en-IN" sz="1400" b="0" i="0" dirty="0">
              <a:solidFill>
                <a:srgbClr val="1A1A1A"/>
              </a:solidFill>
              <a:latin typeface="Carlito"/>
            </a:endParaRPr>
          </a:p>
          <a:p>
            <a:pPr marL="201168" indent="-201168" algn="l">
              <a:spcAft>
                <a:spcPts val="600"/>
              </a:spcAft>
              <a:buFont typeface="Carlito"/>
              <a:buChar char="•"/>
            </a:pPr>
            <a:endParaRPr sz="1400" b="0" i="0" dirty="0">
              <a:solidFill>
                <a:srgbClr val="1A1A1A"/>
              </a:solidFill>
              <a:latin typeface="Carlito"/>
            </a:endParaRPr>
          </a:p>
          <a:p>
            <a:pPr marL="285750" indent="-285750" algn="l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b="1" i="0" dirty="0">
                <a:solidFill>
                  <a:srgbClr val="1A1A1A"/>
                </a:solidFill>
                <a:latin typeface="Carlito"/>
              </a:rPr>
              <a:t>Methodology</a:t>
            </a:r>
            <a:r>
              <a:rPr lang="en-IN" b="1" i="0" dirty="0">
                <a:solidFill>
                  <a:srgbClr val="1A1A1A"/>
                </a:solidFill>
                <a:latin typeface="Carlito"/>
              </a:rPr>
              <a:t> :</a:t>
            </a:r>
            <a:endParaRPr b="1" i="0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4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Dual-Channel Ingestion: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Confirmation emails and forwarded WhatsApp posters enter the Fast API sanitizer queue.</a:t>
            </a:r>
          </a:p>
          <a:p>
            <a:pPr marL="658368" lvl="1" indent="-201168">
              <a:spcAft>
                <a:spcPts val="45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Schema &amp; Entity Resolution: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Gemini extracts event name, round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s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,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deadlines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, venue, and links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,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Nested-Dictionaries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 merges rounds.</a:t>
            </a:r>
          </a:p>
          <a:p>
            <a:pPr marL="658368" lvl="1" indent="-201168">
              <a:spcAft>
                <a:spcPts val="200"/>
              </a:spcAft>
              <a:buFont typeface="Carlito"/>
              <a:buChar char="•"/>
            </a:pPr>
            <a:r>
              <a:rPr sz="1400" b="1" i="0" dirty="0">
                <a:solidFill>
                  <a:srgbClr val="1A1A1A"/>
                </a:solidFill>
                <a:latin typeface="Carlito"/>
              </a:rPr>
              <a:t>Proactive Action Sync: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Calculates 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travel-time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 buffers</a:t>
            </a:r>
            <a:r>
              <a:rPr lang="en-IN" sz="1400" b="0" i="0" dirty="0">
                <a:solidFill>
                  <a:srgbClr val="1A1A1A"/>
                </a:solidFill>
                <a:latin typeface="Carlito"/>
              </a:rPr>
              <a:t> </a:t>
            </a:r>
            <a:r>
              <a:rPr sz="1400" b="0" i="0" dirty="0">
                <a:solidFill>
                  <a:srgbClr val="1A1A1A"/>
                </a:solidFill>
                <a:latin typeface="Carlito"/>
              </a:rPr>
              <a:t>and syncs blocks to Google Calendar.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1115568"/>
            <a:ext cx="5413248" cy="5029200"/>
          </a:xfrm>
          <a:prstGeom prst="rect">
            <a:avLst/>
          </a:prstGeom>
          <a:solidFill>
            <a:srgbClr val="F5F0EE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98079" y="1261872"/>
            <a:ext cx="3255264" cy="51206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228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19" y="1316736"/>
            <a:ext cx="307238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8B1A1A"/>
                </a:solidFill>
                <a:latin typeface="Carlito"/>
              </a:rPr>
              <a:t>Gmail Confirmation or WhatsApp Poster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034272" y="1810512"/>
            <a:ext cx="182880" cy="201168"/>
          </a:xfrm>
          <a:prstGeom prst="down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86600" y="2048256"/>
            <a:ext cx="4078224" cy="713232"/>
          </a:xfrm>
          <a:prstGeom prst="roundRect">
            <a:avLst>
              <a:gd name="adj" fmla="val 14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2199687"/>
            <a:ext cx="3895344" cy="410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 dirty="0">
                <a:solidFill>
                  <a:srgbClr val="FFFFFF"/>
                </a:solidFill>
                <a:latin typeface="Carlito"/>
              </a:rPr>
              <a:t>FASTAPI</a:t>
            </a:r>
            <a:r>
              <a:rPr lang="en-IN" sz="1350" b="1" i="0" dirty="0">
                <a:solidFill>
                  <a:srgbClr val="FFFFFF"/>
                </a:solidFill>
                <a:latin typeface="Carlito"/>
              </a:rPr>
              <a:t> </a:t>
            </a:r>
            <a:r>
              <a:rPr sz="1350" b="1" i="0" dirty="0">
                <a:solidFill>
                  <a:srgbClr val="FFFFFF"/>
                </a:solidFill>
                <a:latin typeface="Carlito"/>
              </a:rPr>
              <a:t>&amp; OAUT</a:t>
            </a:r>
            <a:r>
              <a:rPr lang="en-IN" sz="1350" b="1" dirty="0">
                <a:solidFill>
                  <a:srgbClr val="FFFFFF"/>
                </a:solidFill>
                <a:latin typeface="Carlito"/>
              </a:rPr>
              <a:t>H</a:t>
            </a:r>
            <a:endParaRPr lang="en-IN" sz="1350" b="1" i="0" dirty="0">
              <a:solidFill>
                <a:srgbClr val="FFFFFF"/>
              </a:solidFill>
              <a:latin typeface="Carlito"/>
            </a:endParaRPr>
          </a:p>
          <a:p>
            <a:pPr algn="ctr"/>
            <a:r>
              <a:rPr lang="en-IN" sz="1150" b="0" i="0" dirty="0">
                <a:solidFill>
                  <a:srgbClr val="E8CFCF"/>
                </a:solidFill>
                <a:latin typeface="Carlito"/>
              </a:rPr>
              <a:t>Filters event senders &amp; preprocesses poster images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708391" y="2775710"/>
            <a:ext cx="182880" cy="150369"/>
          </a:xfrm>
          <a:prstGeom prst="down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01968" y="2944368"/>
            <a:ext cx="5047488" cy="1481328"/>
          </a:xfrm>
          <a:prstGeom prst="rect">
            <a:avLst/>
          </a:prstGeom>
          <a:noFill/>
          <a:ln w="15240">
            <a:solidFill>
              <a:srgbClr val="B3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48272" y="3236976"/>
            <a:ext cx="2103120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9712" y="3472208"/>
            <a:ext cx="1920239" cy="5719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 dirty="0">
                <a:solidFill>
                  <a:srgbClr val="8B1A1A"/>
                </a:solidFill>
                <a:latin typeface="Carlito"/>
              </a:rPr>
              <a:t>GEMINI 2.5 FLASH</a:t>
            </a:r>
          </a:p>
          <a:p>
            <a:pPr algn="ctr"/>
            <a:r>
              <a:rPr sz="1150" b="0" i="0" dirty="0">
                <a:solidFill>
                  <a:srgbClr val="1A1A1A"/>
                </a:solidFill>
                <a:latin typeface="Carlito"/>
              </a:rPr>
              <a:t>Extracts structured JSON &amp; Vision OCR</a:t>
            </a:r>
            <a:r>
              <a:rPr lang="en-IN" sz="1150" b="0" i="0" dirty="0">
                <a:solidFill>
                  <a:srgbClr val="1A1A1A"/>
                </a:solidFill>
                <a:latin typeface="Carlito"/>
              </a:rPr>
              <a:t> for poster.</a:t>
            </a:r>
            <a:endParaRPr sz="115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8924544" y="3584448"/>
            <a:ext cx="402336" cy="164592"/>
          </a:xfrm>
          <a:prstGeom prst="right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Left Arrow 24"/>
          <p:cNvSpPr/>
          <p:nvPr/>
        </p:nvSpPr>
        <p:spPr>
          <a:xfrm>
            <a:off x="8924544" y="3840480"/>
            <a:ext cx="402336" cy="164592"/>
          </a:xfrm>
          <a:prstGeom prst="leftArrow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00032" y="3236976"/>
            <a:ext cx="2103120" cy="104241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199" y="3376028"/>
            <a:ext cx="1700786" cy="76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IN" sz="1250" b="1" i="0" dirty="0">
                <a:solidFill>
                  <a:srgbClr val="8B1A1A"/>
                </a:solidFill>
                <a:latin typeface="Carlito"/>
              </a:rPr>
              <a:t>Preventing Duplication</a:t>
            </a:r>
            <a:r>
              <a:rPr sz="1250" b="1" i="0" dirty="0">
                <a:solidFill>
                  <a:srgbClr val="8B1A1A"/>
                </a:solidFill>
                <a:latin typeface="Carlito"/>
              </a:rPr>
              <a:t> &amp; MERG</a:t>
            </a:r>
            <a:r>
              <a:rPr lang="en-IN" sz="1250" b="1" i="0" dirty="0">
                <a:solidFill>
                  <a:srgbClr val="8B1A1A"/>
                </a:solidFill>
                <a:latin typeface="Carlito"/>
              </a:rPr>
              <a:t>ING</a:t>
            </a:r>
            <a:endParaRPr sz="1250" b="1" i="0" dirty="0">
              <a:solidFill>
                <a:srgbClr val="8B1A1A"/>
              </a:solidFill>
              <a:latin typeface="Carlito"/>
            </a:endParaRPr>
          </a:p>
          <a:p>
            <a:pPr algn="ctr"/>
            <a:r>
              <a:rPr sz="1150" b="0" i="0" dirty="0">
                <a:solidFill>
                  <a:srgbClr val="1A1A1A"/>
                </a:solidFill>
                <a:latin typeface="Carlito"/>
              </a:rPr>
              <a:t>Links Round 1, Shortlist &amp; Finale into 1 card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708391" y="4471417"/>
            <a:ext cx="182880" cy="219456"/>
          </a:xfrm>
          <a:prstGeom prst="down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86600" y="4718304"/>
            <a:ext cx="4078224" cy="621792"/>
          </a:xfrm>
          <a:prstGeom prst="roundRect">
            <a:avLst>
              <a:gd name="adj" fmla="val 14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4831710"/>
            <a:ext cx="3895344" cy="3949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rlito"/>
              </a:rPr>
              <a:t>SMART COMMUTE ENGINE</a:t>
            </a:r>
          </a:p>
          <a:p>
            <a:pPr algn="ctr"/>
            <a:r>
              <a:rPr sz="1100" b="0" i="0" dirty="0">
                <a:solidFill>
                  <a:srgbClr val="E8CFCF"/>
                </a:solidFill>
                <a:latin typeface="Carlito"/>
              </a:rPr>
              <a:t>Flags exam overlaps + calculates </a:t>
            </a:r>
            <a:r>
              <a:rPr lang="en-IN" sz="1100" dirty="0">
                <a:solidFill>
                  <a:srgbClr val="E8CFCF"/>
                </a:solidFill>
                <a:latin typeface="Carlito"/>
              </a:rPr>
              <a:t>travel-time </a:t>
            </a:r>
            <a:r>
              <a:rPr sz="1100" b="0" i="0" dirty="0">
                <a:solidFill>
                  <a:srgbClr val="E8CFCF"/>
                </a:solidFill>
                <a:latin typeface="Carlito"/>
              </a:rPr>
              <a:t>buffer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034272" y="5376672"/>
            <a:ext cx="182880" cy="182880"/>
          </a:xfrm>
          <a:prstGeom prst="downArrow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49440" y="5577840"/>
            <a:ext cx="4352544" cy="493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79" y="5632703"/>
            <a:ext cx="416966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 dirty="0">
                <a:solidFill>
                  <a:srgbClr val="8B1A1A"/>
                </a:solidFill>
                <a:latin typeface="Carlito"/>
              </a:rPr>
              <a:t>UNIFIED TIMELINE &amp; </a:t>
            </a:r>
            <a:r>
              <a:rPr lang="en-IN" sz="1250" b="1" i="0" dirty="0">
                <a:solidFill>
                  <a:srgbClr val="8B1A1A"/>
                </a:solidFill>
                <a:latin typeface="Carlito"/>
              </a:rPr>
              <a:t>TASK PRIORITY</a:t>
            </a:r>
            <a:endParaRPr sz="1250" b="1" i="0" dirty="0">
              <a:solidFill>
                <a:srgbClr val="8B1A1A"/>
              </a:solidFill>
              <a:latin typeface="Carlito"/>
            </a:endParaRPr>
          </a:p>
          <a:p>
            <a:pPr algn="ctr"/>
            <a:r>
              <a:rPr lang="en-IN" sz="1100" b="0" i="0" dirty="0">
                <a:solidFill>
                  <a:srgbClr val="1A1A1A"/>
                </a:solidFill>
                <a:latin typeface="Carlito"/>
              </a:rPr>
              <a:t>MySQL DB </a:t>
            </a:r>
            <a:r>
              <a:rPr sz="1100" b="0" i="0" dirty="0">
                <a:solidFill>
                  <a:srgbClr val="1A1A1A"/>
                </a:solidFill>
                <a:latin typeface="Carlito"/>
              </a:rPr>
              <a:t>+  Google Calendar 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48840" y="299519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3000" b="1" i="0" dirty="0">
                <a:solidFill>
                  <a:srgbClr val="8B1A1A"/>
                </a:solidFill>
                <a:latin typeface="Caladea"/>
              </a:rPr>
              <a:t>INNOVATION &amp; </a:t>
            </a:r>
            <a:r>
              <a:rPr sz="3000" b="1" i="0" dirty="0">
                <a:solidFill>
                  <a:srgbClr val="8B1A1A"/>
                </a:solidFill>
                <a:latin typeface="Caladea"/>
              </a:rPr>
              <a:t>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287867"/>
            <a:ext cx="2560320" cy="379645"/>
          </a:xfrm>
          <a:prstGeom prst="roundRect">
            <a:avLst>
              <a:gd name="adj" fmla="val 15000"/>
            </a:avLst>
          </a:prstGeom>
          <a:solidFill>
            <a:srgbClr val="F9F1F0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72600" y="392421"/>
            <a:ext cx="23774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 dirty="0">
                <a:solidFill>
                  <a:srgbClr val="8B1A1A"/>
                </a:solidFill>
                <a:latin typeface="Caladea"/>
              </a:rPr>
              <a:t>HACKSHIFT 2026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520" y="6501940"/>
            <a:ext cx="2228732" cy="200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rlito"/>
              </a:rPr>
              <a:t>@</a:t>
            </a:r>
            <a:r>
              <a:rPr lang="en-IN" sz="1300" dirty="0">
                <a:solidFill>
                  <a:srgbClr val="FFFFFF"/>
                </a:solidFill>
                <a:latin typeface="Carlito"/>
              </a:rPr>
              <a:t>UniTracker</a:t>
            </a:r>
            <a:r>
              <a:rPr sz="1300" b="0" i="0" dirty="0">
                <a:solidFill>
                  <a:srgbClr val="FFFFFF"/>
                </a:solidFill>
                <a:latin typeface="Carlito"/>
              </a:rPr>
              <a:t> (Team ARROWS)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892540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i="0" dirty="0">
                <a:solidFill>
                  <a:srgbClr val="8B1A1A"/>
                </a:solidFill>
                <a:latin typeface="Carlito"/>
              </a:rPr>
              <a:t>Impact</a:t>
            </a:r>
            <a:r>
              <a:rPr sz="2400" b="1" i="0" dirty="0">
                <a:solidFill>
                  <a:srgbClr val="8B1A1A"/>
                </a:solidFill>
                <a:latin typeface="Carlito"/>
              </a:rPr>
              <a:t> and Value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393228"/>
            <a:ext cx="5760720" cy="4942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A1A1A"/>
                </a:solidFill>
                <a:latin typeface="Carlito"/>
              </a:rPr>
              <a:t>Benefits &amp; Scalability :</a:t>
            </a: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rlito"/>
              </a:rPr>
              <a:t>Operational: </a:t>
            </a:r>
            <a:r>
              <a:rPr lang="en-US" sz="1400" dirty="0">
                <a:solidFill>
                  <a:srgbClr val="1A1A1A"/>
                </a:solidFill>
                <a:latin typeface="Carlito"/>
              </a:rPr>
              <a:t>Zero manual calendar typing and instant access to resources before a deadline.</a:t>
            </a: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IN" sz="1400" b="1" dirty="0">
                <a:solidFill>
                  <a:srgbClr val="1A1A1A"/>
                </a:solidFill>
                <a:latin typeface="Carlito"/>
              </a:rPr>
              <a:t>Zero Training Overhead: </a:t>
            </a:r>
            <a:r>
              <a:rPr lang="en-IN" sz="1400" dirty="0">
                <a:solidFill>
                  <a:srgbClr val="1A1A1A"/>
                </a:solidFill>
                <a:latin typeface="Carlito"/>
              </a:rPr>
              <a:t>Uses Gemini 2.5 API and MySQL Database.</a:t>
            </a:r>
            <a:endParaRPr lang="en-US" sz="1400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rlito"/>
              </a:rPr>
              <a:t>Travel Time: </a:t>
            </a:r>
            <a:r>
              <a:rPr lang="en-US" sz="1400" dirty="0">
                <a:solidFill>
                  <a:srgbClr val="1A1A1A"/>
                </a:solidFill>
                <a:latin typeface="Carlito"/>
              </a:rPr>
              <a:t>Live Buffer time calculator for travelling.</a:t>
            </a:r>
          </a:p>
          <a:p>
            <a:pPr marL="658368" lvl="1" indent="-201168">
              <a:spcAft>
                <a:spcPts val="200"/>
              </a:spcAft>
              <a:buFont typeface="Carlito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rlito"/>
              </a:rPr>
              <a:t>Scalability: </a:t>
            </a:r>
            <a:r>
              <a:rPr lang="en-US" sz="1400" dirty="0">
                <a:solidFill>
                  <a:srgbClr val="1A1A1A"/>
                </a:solidFill>
                <a:latin typeface="Carlito"/>
              </a:rPr>
              <a:t>Uses </a:t>
            </a:r>
            <a:r>
              <a:rPr lang="en-IN" sz="1400" dirty="0">
                <a:solidFill>
                  <a:srgbClr val="1A1A1A"/>
                </a:solidFill>
                <a:latin typeface="Carlito"/>
              </a:rPr>
              <a:t>Telegram Bot API, </a:t>
            </a:r>
            <a:r>
              <a:rPr lang="en-US" sz="1400" dirty="0">
                <a:solidFill>
                  <a:srgbClr val="1A1A1A"/>
                </a:solidFill>
                <a:latin typeface="Carlito"/>
              </a:rPr>
              <a:t>match event tokens and date to merge multi-round updates into one card via Python Deduplication.</a:t>
            </a:r>
            <a:endParaRPr lang="en-US" sz="1400" b="1" dirty="0">
              <a:solidFill>
                <a:srgbClr val="1A1A1A"/>
              </a:solidFill>
              <a:latin typeface="Carlito"/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A1A1A"/>
                </a:solidFill>
                <a:latin typeface="Carlito"/>
              </a:rPr>
              <a:t>How </a:t>
            </a:r>
            <a:r>
              <a:rPr lang="en-IN" b="1" dirty="0">
                <a:latin typeface="Carlito"/>
              </a:rPr>
              <a:t>UniTracker</a:t>
            </a:r>
            <a:r>
              <a:rPr lang="en-IN" b="1" dirty="0">
                <a:solidFill>
                  <a:srgbClr val="1A1A1A"/>
                </a:solidFill>
                <a:latin typeface="Carlito"/>
              </a:rPr>
              <a:t> Beats Existing Trackers : </a:t>
            </a: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IN" sz="1400" b="1" dirty="0">
                <a:solidFill>
                  <a:srgbClr val="1A1A1A"/>
                </a:solidFill>
                <a:latin typeface="Carlito"/>
              </a:rPr>
              <a:t>Google Calendar / Notion: </a:t>
            </a:r>
            <a:r>
              <a:rPr lang="en-IN" sz="1400" dirty="0">
                <a:solidFill>
                  <a:srgbClr val="1A1A1A"/>
                </a:solidFill>
                <a:latin typeface="Carlito"/>
              </a:rPr>
              <a:t>Eliminates manual data entry, tracks multi-round states, and pins PPT/Discord links inside the card.</a:t>
            </a:r>
          </a:p>
          <a:p>
            <a:pPr marL="658368" lvl="1" indent="-201168">
              <a:spcAft>
                <a:spcPts val="400"/>
              </a:spcAft>
              <a:buFont typeface="Carlito"/>
              <a:buChar char="•"/>
            </a:pPr>
            <a:r>
              <a:rPr lang="en-IN" sz="1400" b="1" dirty="0">
                <a:solidFill>
                  <a:srgbClr val="1A1A1A"/>
                </a:solidFill>
                <a:latin typeface="Carlito"/>
              </a:rPr>
              <a:t>Unstop / Devfolio / Luma: </a:t>
            </a:r>
            <a:r>
              <a:rPr lang="en-IN" sz="1400" dirty="0">
                <a:solidFill>
                  <a:srgbClr val="1A1A1A"/>
                </a:solidFill>
                <a:latin typeface="Carlito"/>
              </a:rPr>
              <a:t>Works across every registration portal(by fetching the registration confirmation email) plus informal college WhatsApp/Telegram forwards.</a:t>
            </a:r>
            <a:endParaRPr lang="en-US" sz="1400" b="1" dirty="0">
              <a:solidFill>
                <a:srgbClr val="1A1A1A"/>
              </a:solidFill>
              <a:latin typeface="Carlito"/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1A1A1A"/>
                </a:solidFill>
                <a:latin typeface="Carlito"/>
              </a:rPr>
              <a:t>Potential Impact : </a:t>
            </a:r>
          </a:p>
          <a:p>
            <a:pPr marL="658368" lvl="1" indent="-201168">
              <a:spcAft>
                <a:spcPts val="350"/>
              </a:spcAft>
              <a:buFont typeface="Carlito"/>
              <a:buChar char="•"/>
            </a:pPr>
            <a:r>
              <a:rPr lang="en-IN" sz="1400" b="1" dirty="0"/>
              <a:t>Students &amp; Hackathon Teams:</a:t>
            </a:r>
            <a:r>
              <a:rPr lang="en-IN" sz="1400" dirty="0"/>
              <a:t> Auto-managing the tasks at single dashboard makes the workflow efficient &amp; social links and commute buffers in one card prevents missed rounds and late arrivals.</a:t>
            </a:r>
            <a:endParaRPr lang="en-IN" sz="1400" dirty="0">
              <a:solidFill>
                <a:srgbClr val="1A1A1A"/>
              </a:solidFill>
              <a:latin typeface="Carlito"/>
            </a:endParaRPr>
          </a:p>
          <a:p>
            <a:pPr marL="658368" lvl="1" indent="-201168">
              <a:spcAft>
                <a:spcPts val="400"/>
              </a:spcAft>
              <a:buFont typeface="Carlito"/>
              <a:buChar char="•"/>
            </a:pPr>
            <a:r>
              <a:rPr lang="en-IN" sz="1400" b="1" dirty="0"/>
              <a:t>Working Professionals:</a:t>
            </a:r>
            <a:r>
              <a:rPr lang="en-IN" sz="1400" dirty="0"/>
              <a:t> Merging scattered invites and meeting links with zero manual clicks which eliminates app-switching and double-booked meetings.</a:t>
            </a:r>
            <a:endParaRPr lang="en-US" sz="1400" b="1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19088" y="1115568"/>
            <a:ext cx="5413248" cy="5029200"/>
          </a:xfrm>
          <a:prstGeom prst="rect">
            <a:avLst/>
          </a:prstGeom>
          <a:solidFill>
            <a:srgbClr val="F5F0EE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01968" y="1261872"/>
            <a:ext cx="157276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353312"/>
            <a:ext cx="14264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8B1A1A"/>
                </a:solidFill>
                <a:latin typeface="Calade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1993392"/>
            <a:ext cx="138988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1A1A1A"/>
                </a:solidFill>
                <a:latin typeface="Carlito"/>
              </a:rPr>
              <a:t>manual clicks to log events from Gmail or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261872"/>
            <a:ext cx="157276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353312"/>
            <a:ext cx="14264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8B1A1A"/>
                </a:solidFill>
                <a:latin typeface="Caladea"/>
              </a:rPr>
              <a:t>&lt; 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93392"/>
            <a:ext cx="138988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1A1A1A"/>
                </a:solidFill>
                <a:latin typeface="Carlito"/>
              </a:rPr>
              <a:t>end-to-end extraction from poster to live 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40112" y="1261872"/>
            <a:ext cx="157276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32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13264" y="1353312"/>
            <a:ext cx="142646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8B1A1A"/>
                </a:solidFill>
                <a:latin typeface="Caladea"/>
              </a:rPr>
              <a:t>3-in-1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3264" y="1993392"/>
            <a:ext cx="1426464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 dirty="0">
                <a:solidFill>
                  <a:srgbClr val="1A1A1A"/>
                </a:solidFill>
                <a:latin typeface="Carlito"/>
              </a:rPr>
              <a:t>rounds, </a:t>
            </a:r>
            <a:r>
              <a:rPr lang="en-IN" sz="1150" b="0" i="0" dirty="0">
                <a:solidFill>
                  <a:srgbClr val="1A1A1A"/>
                </a:solidFill>
                <a:latin typeface="Carlito"/>
              </a:rPr>
              <a:t>resources</a:t>
            </a:r>
            <a:r>
              <a:rPr sz="1150" b="0" i="0" dirty="0">
                <a:solidFill>
                  <a:srgbClr val="1A1A1A"/>
                </a:solidFill>
                <a:latin typeface="Carlito"/>
              </a:rPr>
              <a:t> vault &amp; commute buffer</a:t>
            </a:r>
            <a:r>
              <a:rPr lang="en-IN" sz="1150" b="0" i="0" dirty="0">
                <a:solidFill>
                  <a:srgbClr val="1A1A1A"/>
                </a:solidFill>
                <a:latin typeface="Carlito"/>
              </a:rPr>
              <a:t> time</a:t>
            </a:r>
            <a:r>
              <a:rPr sz="1150" b="0" i="0" dirty="0">
                <a:solidFill>
                  <a:srgbClr val="1A1A1A"/>
                </a:solidFill>
                <a:latin typeface="Carlito"/>
              </a:rPr>
              <a:t> in one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871216"/>
            <a:ext cx="5010912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 dirty="0">
                <a:solidFill>
                  <a:srgbClr val="8B1A1A"/>
                </a:solidFill>
                <a:latin typeface="Caladea"/>
              </a:rPr>
              <a:t>Who benefits and </a:t>
            </a:r>
            <a:r>
              <a:rPr lang="en-IN" sz="1900" b="1" i="0" dirty="0">
                <a:solidFill>
                  <a:srgbClr val="8B1A1A"/>
                </a:solidFill>
                <a:latin typeface="Caladea"/>
              </a:rPr>
              <a:t>H</a:t>
            </a:r>
            <a:r>
              <a:rPr sz="1900" b="1" i="0" dirty="0">
                <a:solidFill>
                  <a:srgbClr val="8B1A1A"/>
                </a:solidFill>
                <a:latin typeface="Caladea"/>
              </a:rPr>
              <a:t>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1968" y="3438144"/>
            <a:ext cx="1234440" cy="603504"/>
          </a:xfrm>
          <a:prstGeom prst="roundRect">
            <a:avLst>
              <a:gd name="adj" fmla="val 1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3493008"/>
            <a:ext cx="10515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rlito"/>
              </a:rPr>
              <a:t>Students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3438144"/>
            <a:ext cx="3694176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3296" y="3511296"/>
            <a:ext cx="3419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0" i="0" dirty="0">
                <a:solidFill>
                  <a:srgbClr val="1A1A1A"/>
                </a:solidFill>
                <a:latin typeface="Carlito"/>
              </a:rPr>
              <a:t>Zero missed rounds, pinned PPT/Discord links &amp; commute 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4339" y="4335155"/>
            <a:ext cx="1234440" cy="603504"/>
          </a:xfrm>
          <a:prstGeom prst="roundRect">
            <a:avLst>
              <a:gd name="adj" fmla="val 18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95778" y="4436852"/>
            <a:ext cx="10515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300" b="1" i="0" dirty="0">
                <a:solidFill>
                  <a:srgbClr val="FFFFFF"/>
                </a:solidFill>
                <a:latin typeface="Carlito"/>
              </a:rPr>
              <a:t>Working Professionals</a:t>
            </a:r>
            <a:endParaRPr sz="1300" b="1" i="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39363" y="4335155"/>
            <a:ext cx="3694176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5667" y="4444546"/>
            <a:ext cx="3419856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250" b="0" i="0" dirty="0">
                <a:solidFill>
                  <a:srgbClr val="1A1A1A"/>
                </a:solidFill>
                <a:latin typeface="Carlito"/>
              </a:rPr>
              <a:t>Manage their meetings ,events and tasks at a single platform with zero-manual clicks.</a:t>
            </a:r>
            <a:endParaRPr sz="125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601968" y="5431536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9F1F0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9984" y="5543492"/>
            <a:ext cx="4773168" cy="379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 dirty="0">
                <a:solidFill>
                  <a:srgbClr val="8B1A1A"/>
                </a:solidFill>
                <a:latin typeface="Carlito"/>
              </a:rPr>
              <a:t>BUILT FOR</a:t>
            </a:r>
          </a:p>
          <a:p>
            <a:pPr algn="ctr"/>
            <a:r>
              <a:rPr sz="1250" b="1" i="0" dirty="0">
                <a:solidFill>
                  <a:srgbClr val="1A1A1A"/>
                </a:solidFill>
                <a:latin typeface="Carlito"/>
              </a:rPr>
              <a:t>Hackathon Teams  •  </a:t>
            </a:r>
            <a:r>
              <a:rPr lang="en-IN" sz="1250" b="1" i="0" dirty="0">
                <a:solidFill>
                  <a:srgbClr val="1A1A1A"/>
                </a:solidFill>
                <a:latin typeface="Carlito"/>
              </a:rPr>
              <a:t>Working Professionals</a:t>
            </a:r>
            <a:r>
              <a:rPr sz="1250" b="1" i="0" dirty="0">
                <a:solidFill>
                  <a:srgbClr val="1A1A1A"/>
                </a:solidFill>
                <a:latin typeface="Carlito"/>
              </a:rPr>
              <a:t>  • </a:t>
            </a:r>
            <a:r>
              <a:rPr lang="en-IN" sz="1250" b="1" i="0" dirty="0">
                <a:solidFill>
                  <a:srgbClr val="1A1A1A"/>
                </a:solidFill>
                <a:latin typeface="Carlito"/>
              </a:rPr>
              <a:t> </a:t>
            </a:r>
            <a:r>
              <a:rPr sz="1250" b="1" i="0" dirty="0">
                <a:solidFill>
                  <a:srgbClr val="1A1A1A"/>
                </a:solidFill>
                <a:latin typeface="Carlito"/>
              </a:rPr>
              <a:t>Student </a:t>
            </a:r>
            <a:r>
              <a:rPr lang="en-IN" sz="1250" b="1" i="0" dirty="0">
                <a:solidFill>
                  <a:srgbClr val="1A1A1A"/>
                </a:solidFill>
                <a:latin typeface="Carlito"/>
              </a:rPr>
              <a:t>Individuals</a:t>
            </a:r>
            <a:endParaRPr sz="1250" b="1" i="0" dirty="0">
              <a:solidFill>
                <a:srgbClr val="1A1A1A"/>
              </a:solidFill>
              <a:latin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8840" y="308550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3000" b="1" i="0" dirty="0">
                <a:solidFill>
                  <a:srgbClr val="8B1A1A"/>
                </a:solidFill>
                <a:latin typeface="Caladea"/>
              </a:rPr>
              <a:t>PROTOTYPE &amp; </a:t>
            </a:r>
            <a:r>
              <a:rPr sz="3000" b="1" i="0" dirty="0">
                <a:solidFill>
                  <a:srgbClr val="8B1A1A"/>
                </a:solidFill>
                <a:latin typeface="Caladea"/>
              </a:rPr>
              <a:t>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320040"/>
            <a:ext cx="2560320" cy="393192"/>
          </a:xfrm>
          <a:prstGeom prst="roundRect">
            <a:avLst>
              <a:gd name="adj" fmla="val 15000"/>
            </a:avLst>
          </a:prstGeom>
          <a:solidFill>
            <a:srgbClr val="F9F1F0"/>
          </a:solidFill>
          <a:ln w="1524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72600" y="414434"/>
            <a:ext cx="23774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 dirty="0">
                <a:solidFill>
                  <a:srgbClr val="8B1A1A"/>
                </a:solidFill>
                <a:latin typeface="Caladea"/>
              </a:rPr>
              <a:t>HACKSHIFT 2026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6DA80729-4FA4-7719-AE94-C1078A3A5824}"/>
              </a:ext>
            </a:extLst>
          </p:cNvPr>
          <p:cNvSpPr/>
          <p:nvPr/>
        </p:nvSpPr>
        <p:spPr>
          <a:xfrm>
            <a:off x="7736502" y="1472177"/>
            <a:ext cx="4104978" cy="46800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11480" y="6501941"/>
            <a:ext cx="2133262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rlito"/>
              </a:rPr>
              <a:t>@</a:t>
            </a:r>
            <a:r>
              <a:rPr lang="en-IN" sz="1300" dirty="0">
                <a:solidFill>
                  <a:srgbClr val="FFFFFF"/>
                </a:solidFill>
                <a:latin typeface="Carlito"/>
              </a:rPr>
              <a:t>UniTracker</a:t>
            </a:r>
            <a:r>
              <a:rPr sz="1300" b="0" i="0" dirty="0">
                <a:solidFill>
                  <a:srgbClr val="FFFFFF"/>
                </a:solidFill>
                <a:latin typeface="Carlito"/>
              </a:rPr>
              <a:t> (Team ARROWS)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42099"/>
            <a:ext cx="57607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8B1A1A"/>
                </a:solidFill>
                <a:latin typeface="Carlito"/>
              </a:rPr>
              <a:t>Prototype Snaps and Team-Execution Plan</a:t>
            </a:r>
            <a:endParaRPr lang="en-IN" sz="2400" b="1" i="0" dirty="0">
              <a:solidFill>
                <a:srgbClr val="8B1A1A"/>
              </a:solidFill>
              <a:latin typeface="Carli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2524" y="1853601"/>
            <a:ext cx="357293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8B1A1A"/>
                </a:solidFill>
                <a:latin typeface="Caladea"/>
              </a:rPr>
              <a:t>24</a:t>
            </a:r>
            <a:r>
              <a:rPr lang="en-IN" sz="2000" b="1" dirty="0">
                <a:solidFill>
                  <a:srgbClr val="8B1A1A"/>
                </a:solidFill>
                <a:latin typeface="Caladea"/>
              </a:rPr>
              <a:t> </a:t>
            </a:r>
            <a:r>
              <a:rPr sz="2000" b="1" i="0" dirty="0">
                <a:solidFill>
                  <a:srgbClr val="8B1A1A"/>
                </a:solidFill>
                <a:latin typeface="Caladea"/>
              </a:rPr>
              <a:t>Hour</a:t>
            </a:r>
            <a:r>
              <a:rPr lang="en-IN" sz="2000" b="1" i="0" dirty="0">
                <a:solidFill>
                  <a:srgbClr val="8B1A1A"/>
                </a:solidFill>
                <a:latin typeface="Caladea"/>
              </a:rPr>
              <a:t>s </a:t>
            </a:r>
            <a:r>
              <a:rPr sz="2000" b="1" i="0" dirty="0">
                <a:solidFill>
                  <a:srgbClr val="8B1A1A"/>
                </a:solidFill>
                <a:latin typeface="Caladea"/>
              </a:rPr>
              <a:t>Hackathon Build</a:t>
            </a:r>
            <a:r>
              <a:rPr lang="en-IN" sz="2000" b="1" dirty="0">
                <a:solidFill>
                  <a:srgbClr val="8B1A1A"/>
                </a:solidFill>
                <a:latin typeface="Caladea"/>
              </a:rPr>
              <a:t> </a:t>
            </a:r>
            <a:r>
              <a:rPr lang="en-IN" sz="2000" b="1" i="0" dirty="0">
                <a:solidFill>
                  <a:srgbClr val="8B1A1A"/>
                </a:solidFill>
                <a:latin typeface="Caladea"/>
              </a:rPr>
              <a:t>Plan</a:t>
            </a:r>
            <a:endParaRPr sz="2000" b="1" i="0" dirty="0">
              <a:solidFill>
                <a:srgbClr val="8B1A1A"/>
              </a:solidFill>
              <a:latin typeface="Calad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2702" y="2389421"/>
            <a:ext cx="3952578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5068" y="2496470"/>
            <a:ext cx="2159339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  <a:latin typeface="Carlito"/>
              </a:rPr>
              <a:t>Gmail </a:t>
            </a:r>
            <a:r>
              <a:rPr lang="en-IN" sz="1200" b="0" i="0" dirty="0">
                <a:solidFill>
                  <a:srgbClr val="1A1A1A"/>
                </a:solidFill>
                <a:latin typeface="Carlito"/>
              </a:rPr>
              <a:t>OAuth read-only filter</a:t>
            </a:r>
            <a:r>
              <a:rPr sz="1200" b="0" i="0" dirty="0">
                <a:solidFill>
                  <a:srgbClr val="1A1A1A"/>
                </a:solidFill>
                <a:latin typeface="Carlito"/>
              </a:rPr>
              <a:t>, WhatsApp Bot </a:t>
            </a:r>
            <a:r>
              <a:rPr lang="en-IN" sz="1200" b="0" i="0" dirty="0">
                <a:solidFill>
                  <a:srgbClr val="1A1A1A"/>
                </a:solidFill>
                <a:latin typeface="Carlito"/>
              </a:rPr>
              <a:t>integration</a:t>
            </a:r>
            <a:r>
              <a:rPr lang="en-IN" sz="1200" dirty="0">
                <a:solidFill>
                  <a:srgbClr val="1A1A1A"/>
                </a:solidFill>
                <a:latin typeface="Carlito"/>
              </a:rPr>
              <a:t>, UI/UX Designing</a:t>
            </a:r>
            <a:endParaRPr sz="120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12702" y="3230669"/>
            <a:ext cx="3952578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35206" y="3353887"/>
            <a:ext cx="1207008" cy="512064"/>
          </a:xfrm>
          <a:prstGeom prst="roundRect">
            <a:avLst>
              <a:gd name="adj" fmla="val 18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5206" y="3513466"/>
            <a:ext cx="120700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>
                <a:solidFill>
                  <a:srgbClr val="E8CFCF"/>
                </a:solidFill>
                <a:latin typeface="Carlito"/>
              </a:rPr>
              <a:t>PHASE 2</a:t>
            </a:r>
            <a:endParaRPr sz="1400" b="1" i="0" dirty="0">
              <a:solidFill>
                <a:srgbClr val="E8CFCF"/>
              </a:solidFill>
              <a:latin typeface="Carlit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25068" y="3430051"/>
            <a:ext cx="215933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200" dirty="0">
                <a:solidFill>
                  <a:srgbClr val="1A1A1A"/>
                </a:solidFill>
                <a:latin typeface="Carlito"/>
              </a:rPr>
              <a:t>MySQL Database and Python Integration</a:t>
            </a:r>
            <a:endParaRPr sz="120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812702" y="4071917"/>
            <a:ext cx="3952578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35206" y="4202380"/>
            <a:ext cx="1207008" cy="512064"/>
          </a:xfrm>
          <a:prstGeom prst="roundRect">
            <a:avLst>
              <a:gd name="adj" fmla="val 18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35206" y="4361959"/>
            <a:ext cx="120700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>
                <a:solidFill>
                  <a:srgbClr val="E8CFCF"/>
                </a:solidFill>
                <a:latin typeface="Carlito"/>
              </a:rPr>
              <a:t>PHASE 3</a:t>
            </a:r>
            <a:endParaRPr sz="1400" b="1" i="0" dirty="0">
              <a:solidFill>
                <a:srgbClr val="E8CFCF"/>
              </a:solidFill>
              <a:latin typeface="Carlit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25068" y="4271299"/>
            <a:ext cx="2159339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200" b="0" i="0" dirty="0">
                <a:solidFill>
                  <a:srgbClr val="1A1A1A"/>
                </a:solidFill>
                <a:latin typeface="Carlito"/>
              </a:rPr>
              <a:t>Google Maps API and buffer time calculation</a:t>
            </a:r>
            <a:endParaRPr sz="120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812702" y="4913165"/>
            <a:ext cx="3952578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25068" y="5020214"/>
            <a:ext cx="2159339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  <a:latin typeface="Carlito"/>
              </a:rPr>
              <a:t>Google Calendar export, live forward testing</a:t>
            </a:r>
            <a:r>
              <a:rPr lang="en-IN" sz="1200" dirty="0">
                <a:solidFill>
                  <a:srgbClr val="1A1A1A"/>
                </a:solidFill>
                <a:latin typeface="Carlito"/>
              </a:rPr>
              <a:t> &amp; presentation preparation</a:t>
            </a:r>
            <a:endParaRPr lang="en-IN" sz="1200" b="0" i="0" dirty="0">
              <a:solidFill>
                <a:srgbClr val="1A1A1A"/>
              </a:solidFill>
              <a:latin typeface="Carlito"/>
            </a:endParaRPr>
          </a:p>
        </p:txBody>
      </p:sp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8E80EEF0-3892-78D0-D48E-56D00E2CB936}"/>
              </a:ext>
            </a:extLst>
          </p:cNvPr>
          <p:cNvSpPr/>
          <p:nvPr/>
        </p:nvSpPr>
        <p:spPr>
          <a:xfrm>
            <a:off x="8035206" y="5043628"/>
            <a:ext cx="1207008" cy="512064"/>
          </a:xfrm>
          <a:prstGeom prst="roundRect">
            <a:avLst>
              <a:gd name="adj" fmla="val 18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E106BF-ECC2-6D4A-F184-EC4C74D34473}"/>
              </a:ext>
            </a:extLst>
          </p:cNvPr>
          <p:cNvSpPr txBox="1"/>
          <p:nvPr/>
        </p:nvSpPr>
        <p:spPr>
          <a:xfrm>
            <a:off x="8035206" y="5203207"/>
            <a:ext cx="120700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>
                <a:solidFill>
                  <a:srgbClr val="E8CFCF"/>
                </a:solidFill>
                <a:latin typeface="Carlito"/>
              </a:rPr>
              <a:t>PHASE 4</a:t>
            </a:r>
            <a:endParaRPr sz="1400" b="1" i="0" dirty="0">
              <a:solidFill>
                <a:srgbClr val="E8CFCF"/>
              </a:solidFill>
              <a:latin typeface="Carlito"/>
            </a:endParaRPr>
          </a:p>
        </p:txBody>
      </p:sp>
      <p:sp>
        <p:nvSpPr>
          <p:cNvPr id="36" name="Rounded Rectangle 23">
            <a:extLst>
              <a:ext uri="{FF2B5EF4-FFF2-40B4-BE49-F238E27FC236}">
                <a16:creationId xmlns:a16="http://schemas.microsoft.com/office/drawing/2014/main" id="{50C29326-F585-126E-B7D9-CBAA742A18C3}"/>
              </a:ext>
            </a:extLst>
          </p:cNvPr>
          <p:cNvSpPr/>
          <p:nvPr/>
        </p:nvSpPr>
        <p:spPr>
          <a:xfrm>
            <a:off x="8035206" y="2521670"/>
            <a:ext cx="1207008" cy="512064"/>
          </a:xfrm>
          <a:prstGeom prst="roundRect">
            <a:avLst>
              <a:gd name="adj" fmla="val 18000"/>
            </a:avLst>
          </a:prstGeom>
          <a:solidFill>
            <a:srgbClr val="B33A3A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109CAF-031F-C671-8730-23EEC219399F}"/>
              </a:ext>
            </a:extLst>
          </p:cNvPr>
          <p:cNvSpPr txBox="1"/>
          <p:nvPr/>
        </p:nvSpPr>
        <p:spPr>
          <a:xfrm>
            <a:off x="8035206" y="2681249"/>
            <a:ext cx="120700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i="0" dirty="0">
                <a:solidFill>
                  <a:srgbClr val="E8CFCF"/>
                </a:solidFill>
                <a:latin typeface="Carlito"/>
              </a:rPr>
              <a:t>PHASE 1</a:t>
            </a:r>
            <a:endParaRPr sz="1400" b="1" i="0" dirty="0">
              <a:solidFill>
                <a:srgbClr val="E8CFCF"/>
              </a:solidFill>
              <a:latin typeface="Carlito"/>
            </a:endParaRPr>
          </a:p>
        </p:txBody>
      </p:sp>
      <p:pic>
        <p:nvPicPr>
          <p:cNvPr id="12" name="Picture 11" descr="The image displays a user interface for UniTracker, a project management tool, with various sections for tasks, events, and team communication, specifically focusing on a project named HackShift 2026.&#10;&#10;AI-generated content may be incorrect.">
            <a:extLst>
              <a:ext uri="{FF2B5EF4-FFF2-40B4-BE49-F238E27FC236}">
                <a16:creationId xmlns:a16="http://schemas.microsoft.com/office/drawing/2014/main" id="{88E366C5-F923-CF00-2060-73C4B0385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22" y="1472177"/>
            <a:ext cx="7164612" cy="4749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1048</Words>
  <Application>Microsoft Office PowerPoint</Application>
  <PresentationFormat>Widescreen</PresentationFormat>
  <Paragraphs>139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Caladea</vt:lpstr>
      <vt:lpstr>Calibri</vt:lpstr>
      <vt:lpstr>Carlito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Acharjee</cp:lastModifiedBy>
  <cp:revision>3</cp:revision>
  <cp:lastPrinted>2026-10-15T14:07:15Z</cp:lastPrinted>
  <dcterms:created xsi:type="dcterms:W3CDTF">2013-01-27T09:14:16Z</dcterms:created>
  <dcterms:modified xsi:type="dcterms:W3CDTF">2026-10-18T02:55:29Z</dcterms:modified>
  <cp:category/>
</cp:coreProperties>
</file>